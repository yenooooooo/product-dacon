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제주도 퇴근시간 버스 승차인원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4D399"/>
                </a:solidFill>
                <a:latin typeface="맑은 고딕"/>
              </a:defRPr>
            </a:pPr>
            <a:r>
              <a:t>Team E1i4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맑은 고딕"/>
              </a:defRPr>
            </a:pPr>
            <a:r>
              <a:t>Dacon AI 경진대회 | 5인 팀 프로젝트 | Private 13위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286000" cy="3291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평가지표: RMSE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377440"/>
            <a:ext cx="2286000" cy="3291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타겟: 18~20시 승차인원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377440"/>
            <a:ext cx="2286000" cy="3291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377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팀원: 5명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031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960120"/>
            <a:ext cx="612648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9601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Dacon 제주 버스탑승객수예측 AI 경진대회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35608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35608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3560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18~20시 저녁 승차인원(18~20_ride)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11095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1109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평가지표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911095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911095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RMSE (Root Mean Squared Error)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86584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386584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38658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2019년 9월 (30일, 415,423행)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62072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62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예측 대상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862072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86207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2019년 10월 1~16일 (228,170행)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37560"/>
            <a:ext cx="2103120" cy="38404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사용 데이터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337560"/>
            <a:ext cx="6126480" cy="38404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3375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train/test, bus_bts, 기상 데이터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최종 결과: Private 13위 (submission_team1_3way.csv)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51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55개 × 0.5 + 59개 × 0.2 + 95개 × 0.3 = 3-way 블렌딩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2/33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전체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28016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데이터 로드</a:t>
            </a:r>
            <a:br/>
            <a:r>
              <a:t>&amp; 기본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9072" y="1097280"/>
            <a:ext cx="128016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76272" y="1234440"/>
            <a:ext cx="3657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EDA</a:t>
            </a:r>
            <a:br/>
            <a:r>
              <a:t>(팀원 5명)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3824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63824" y="1097280"/>
            <a:ext cx="12801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21024" y="1234440"/>
            <a:ext cx="3657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9544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1097280"/>
            <a:ext cx="12801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234440"/>
            <a:ext cx="3657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  <a:br/>
            <a:r>
              <a:t>엔지니어링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53328" y="1097280"/>
            <a:ext cx="1280160" cy="457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1234440"/>
            <a:ext cx="365760" cy="365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모델링</a:t>
            </a:r>
            <a:br/>
            <a:r>
              <a:t>&amp; 튜닝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1097280"/>
            <a:ext cx="128016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0" y="109728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123444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691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블렌딩</a:t>
            </a:r>
            <a:br/>
            <a:r>
              <a:t>&amp; 제출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맑은 고딕"/>
              </a:defRPr>
            </a:pPr>
            <a:r>
              <a:t>415K행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맑은 고딕"/>
              </a:defRPr>
            </a:pPr>
            <a:r>
              <a:t>228K행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예측 대상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0B981"/>
                </a:solidFill>
                <a:latin typeface="맑은 고딕"/>
              </a:defRPr>
            </a:pPr>
            <a:r>
              <a:t>59개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최종 피처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5CF6"/>
                </a:solidFill>
                <a:latin typeface="맑은 고딕"/>
              </a:defRPr>
            </a:pPr>
            <a:r>
              <a:t>3-Way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블렌딩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3/33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1. 데이터 로드 &amp; 기본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train.csv (415,423행)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정류장별 시간대 승하차 인원 + 타겟(18~20_ride)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test.csv (228,170행)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10월 1~16일 데이터 (타겟 없음)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bus_bts.csv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BTS 교통카드 기반 노선별 승하차 상세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59"/>
            <a:ext cx="8229600" cy="5486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기상 데이터 (2종)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기상청 9월/10월 시간별 기온·강수량·풍속·일조시간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64008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타겟 분포 특성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평균: 1.24 | 중위값: 0 | 최대: 272 | 0인 비율: 71.4% | 왜도: 14.89</a:t>
            </a:r>
          </a:p>
          <a:p>
            <a:pPr>
              <a:spcAft>
                <a:spcPts val="200"/>
              </a:spcAft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→ 극단적 우편향 분포 → log1p 변환 필수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4/33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2. EDA (탐색적 데이터 분석) —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맑은 고딕"/>
              </a:defRPr>
            </a:pPr>
            <a:r>
              <a:t>팀원 5명이 각자 진행한 EDA를 통합 → 핵심 인사이트가 특성 엔지니어링의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4008" cy="6217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언제 타는가?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시간과 이동 목적의 변화</a:t>
            </a:r>
            <a:br/>
            <a:r>
              <a:t>→ 요일별·공휴일 승차 패턴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56232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56232"/>
            <a:ext cx="64008" cy="6217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47672"/>
            <a:ext cx="548640" cy="411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맑은 고딕"/>
              </a:defRPr>
            </a:pPr>
            <a:r>
              <a:t>오전 ↔ 저녁 상관관계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762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출근 승차량 → 퇴근 승차량 예측 가능</a:t>
            </a:r>
            <a:br/>
            <a:r>
              <a:t>→ 시간대별 파생 피처의 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9464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64008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60904"/>
            <a:ext cx="54864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609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맑은 고딕"/>
              </a:defRPr>
            </a:pPr>
            <a:r>
              <a:t>어디서 타는가?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895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정류장 입지와 역할 규명</a:t>
            </a:r>
            <a:br/>
            <a:r>
              <a:t>→ 위치 기반 피처의 근거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82696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82696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74136"/>
            <a:ext cx="54864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7413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3284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맑은 고딕"/>
              </a:defRPr>
            </a:pPr>
            <a:r>
              <a:t>이용객 유형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6027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관광객·직장인·현지인·대학생</a:t>
            </a:r>
            <a:br/>
            <a:r>
              <a:t>→ BTS 유형별 피처의 근거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95928"/>
            <a:ext cx="8229600" cy="62179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995928"/>
            <a:ext cx="64008" cy="6217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087368"/>
            <a:ext cx="54864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873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Ch.5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맑은 고딕"/>
              </a:defRPr>
            </a:pPr>
            <a:r>
              <a:t>기상 이변의 영향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3159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폭우·태풍 → 이상치 유발</a:t>
            </a:r>
            <a:br/>
            <a:r>
              <a:t>→ 날씨 피처의 근거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5/33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EDA Ch.1 — 언제 타는가?</a:t>
            </a:r>
          </a:p>
        </p:txBody>
      </p:sp>
      <p:pic>
        <p:nvPicPr>
          <p:cNvPr id="3" name="Picture 2" descr="cell15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4114800" cy="2560320"/>
          </a:xfrm>
          <a:prstGeom prst="rect">
            <a:avLst/>
          </a:prstGeom>
        </p:spPr>
      </p:pic>
      <p:pic>
        <p:nvPicPr>
          <p:cNvPr id="4" name="Picture 3" descr="cell17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114800" cy="2560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520440"/>
            <a:ext cx="8412480" cy="10058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핵심 발견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평일 vs 주말 승차 패턴이 완전히 다름 → dayofweek, is_weekend 피처의 근거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추석 연휴(9/12~14) 기간 승차량 급감 → is_holiday 피처의 근거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금요일 저녁 승차량이 다른 평일보다 높음 → 요일별 Target Encoding의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6/33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Ch.2 — 오전 승차량 vs 저녁 승차량</a:t>
            </a:r>
          </a:p>
        </p:txBody>
      </p:sp>
      <p:pic>
        <p:nvPicPr>
          <p:cNvPr id="3" name="Picture 2" descr="cell20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7/33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Ch.2 — 시간대별 승차 분포 &amp; 핵심 발견</a:t>
            </a:r>
          </a:p>
        </p:txBody>
      </p:sp>
      <p:pic>
        <p:nvPicPr>
          <p:cNvPr id="3" name="Picture 2" descr="cell22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228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3108960"/>
            <a:ext cx="841248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핵심 발견: 출근 승차량 ∝ 퇴근 승차량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오전(6~12시) 승차 인원이 높은 정류장 = 저녁(18~20시)에도 높음</a:t>
            </a: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▸ Pearson r = 0.622 → ride_total, ride_6_8, peak_ride 등 파생 피처의 핵심 근거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8~9시가 가장 높고, 이상치 분포도 18~20시와 유사한 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8/33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Ch.2 — 시간대별 상관관계 히트맵</a:t>
            </a:r>
          </a:p>
        </p:txBody>
      </p:sp>
      <p:pic>
        <p:nvPicPr>
          <p:cNvPr id="3" name="Picture 2" descr="cell23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46320" y="822960"/>
            <a:ext cx="3840480" cy="3200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91440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상관계수 히트맵 분석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모든 시간대 승차량이 서로 양의 상관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특히 인접 시간대끼리 상관이 높음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예) 8~9시 ↔ 9~10시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→ 시간대 집계 피처(ride_6_8 등)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  가 타겟 예측에 유효함을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9/33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Ch.3 — 저녁 승차량 상위 정류장</a:t>
            </a:r>
          </a:p>
        </p:txBody>
      </p:sp>
      <p:pic>
        <p:nvPicPr>
          <p:cNvPr id="3" name="Picture 2" descr="cell26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822960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10/33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Ch.3 — 제주도 정류장별 승차량 지도</a:t>
            </a:r>
          </a:p>
        </p:txBody>
      </p:sp>
      <p:pic>
        <p:nvPicPr>
          <p:cNvPr id="3" name="Picture 2" descr="cell28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486400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822960"/>
            <a:ext cx="2926080" cy="3200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91440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핵심 발견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제주시 중심부에 집중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공항·터미널 = 고수요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→ has_airport 피처</a:t>
            </a: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→ has_terminal 피처</a:t>
            </a: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→ dist_to_dong 피처</a:t>
            </a:r>
          </a:p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→ station 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11/33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Ch.4 — 이용객 유형별 시간대 분석</a:t>
            </a:r>
          </a:p>
        </p:txBody>
      </p:sp>
      <p:pic>
        <p:nvPicPr>
          <p:cNvPr id="3" name="Picture 2" descr="cell33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4114800" cy="3657600"/>
          </a:xfrm>
          <a:prstGeom prst="rect">
            <a:avLst/>
          </a:prstGeom>
        </p:spPr>
      </p:pic>
      <p:pic>
        <p:nvPicPr>
          <p:cNvPr id="4" name="Picture 3" descr="cell34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85800"/>
            <a:ext cx="429768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12/33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Ch.4 — 유형별 노선 선호도 &amp; 인사이트</a:t>
            </a:r>
          </a:p>
        </p:txBody>
      </p:sp>
      <p:pic>
        <p:nvPicPr>
          <p:cNvPr id="3" name="Picture 2" descr="cell35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4114800" cy="2194560"/>
          </a:xfrm>
          <a:prstGeom prst="rect">
            <a:avLst/>
          </a:prstGeom>
        </p:spPr>
      </p:pic>
      <p:pic>
        <p:nvPicPr>
          <p:cNvPr id="4" name="Picture 3" descr="cell36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85800"/>
            <a:ext cx="4297680" cy="2194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017520"/>
            <a:ext cx="8412480" cy="146304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BTS 교통카드 → 관광객 / 직장인 / 현지인 / 대학생 분류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직장인: 출퇴근 쌍봉 패턴 / 관광객: 시간대 불규칙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▸ 현지인: 생활권 다양 / 대학생: 통학 집중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→ usertype_tourist, usertype_local 피처의 직접적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13/33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Ch.5 — 강수량 vs 승차인원</a:t>
            </a:r>
          </a:p>
        </p:txBody>
      </p:sp>
      <p:pic>
        <p:nvPicPr>
          <p:cNvPr id="3" name="Picture 2" descr="cell39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8595360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14/33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Ch.5 — 기온·풍속 영향 &amp; 핵심 발견</a:t>
            </a:r>
          </a:p>
        </p:txBody>
      </p:sp>
      <p:pic>
        <p:nvPicPr>
          <p:cNvPr id="3" name="Picture 2" descr="cell40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029200" cy="2743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0" y="822960"/>
            <a:ext cx="3383280" cy="25603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91440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가설 검증 결과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극단적 날씨 →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이상치 유발 확인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▸ 강수량이 가장 중요</a:t>
            </a: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▸ 태풍(9/22~23) = 극단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▸ 기온/풍속은 약한 상관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611880"/>
            <a:ext cx="8595360" cy="914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→ rain_sum, rain_evening, is_rainy, is_typhoon 피처의 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15/33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3. 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기상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6128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시간별 → 일별 집계 (기온/강수량/풍속/일조) + 18~20시 저녁 별도 집계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8229600" cy="47548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날짜 피처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요일, 주말, 공휴일(추석·개천절·한글날), 태풍(9/22~23)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8229600" cy="47548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in_out 인코딩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'시내' → 0, '시외' →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8229600" cy="47548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8775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BTS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bus_bts에서 정류장/노선별 집계 후 merge → 결측 0 대체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8229600" cy="47548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363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타겟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5584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log1p 변환 (극단적 우편향 → 정규분포에 가깝게)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85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정류장 중복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04487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train/test 정류장 겹침률 분석 → test에만 있는 정류장 대응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16/33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3-1. Train / Test 정류장 겹침 분석</a:t>
            </a:r>
          </a:p>
        </p:txBody>
      </p:sp>
      <p:pic>
        <p:nvPicPr>
          <p:cNvPr id="3" name="Picture 2" descr="cell44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4864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822960"/>
            <a:ext cx="2651760" cy="30175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2286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왜 확인했는가?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Test에만 있는 정류장은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모델이 한 번도 보지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못한 데이터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→ TE: global mean 대체</a:t>
            </a:r>
          </a:p>
          <a:p>
            <a:pPr>
              <a:spcAft>
                <a:spcPts val="2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→ BTS 피처: 결측 → 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17/33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4. 특성 엔지니어링 — 팀원 5명 피처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5명의 피처를 분석한 결과, 핵심 아이디어의 80%가 겹침</a:t>
            </a:r>
            <a:br/>
            <a:r>
              <a:t>→ 팀 전체가 올바른 방향으로 접근했다는 증거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맑은 고딕"/>
              </a:defRPr>
            </a:pPr>
            <a:r>
              <a:t>승차 원본+파생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14개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1,3,4,5 공통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4864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47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맑은 고딕"/>
              </a:defRPr>
            </a:pPr>
            <a:r>
              <a:t>하차 파생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847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8470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31136"/>
            <a:ext cx="54864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31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순유입(net_flow)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231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2311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15184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615184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151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Target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6151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6151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1,2,3 공통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99232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99232"/>
            <a:ext cx="54864" cy="34747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99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33EA"/>
                </a:solidFill>
                <a:latin typeface="맑은 고딕"/>
              </a:defRPr>
            </a:pPr>
            <a:r>
              <a:t>날짜/기상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9992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12개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9992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전체 공통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54864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맑은 고딕"/>
              </a:defRPr>
            </a:pPr>
            <a:r>
              <a:t>BTS 교통카드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383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10개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383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1,2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67328"/>
            <a:ext cx="8229600" cy="34747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767328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673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정류장/상호작용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3767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767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3,5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51376"/>
            <a:ext cx="8229600" cy="347472"/>
          </a:xfrm>
          <a:prstGeom prst="rect">
            <a:avLst/>
          </a:prstGeom>
          <a:solidFill>
            <a:srgbClr val="1C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151376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513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팀원 고유 피처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1513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1513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팀원 4,5 (신규)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기본 55개 (공통) + 팀원 고유 4개 = 59개 피처 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18/33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4-1. 핵심 피처 상세 — 승하차 &amp; 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승차 피처 (14개)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6~7_ride ~ 11~12_ride (원본 6개)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ride_6_8, ride_8_10, ride_10_12 (집계)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ride_total, peak_ride, ride_std 등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net_flow = ride − takeoff (순유입)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Target Encoding (3개)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te_route_station (노선+정류장)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te_station (정류장)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te_route (노선)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Smoothed 5-Fold K-Fold (m=20)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97316"/>
                </a:solidFill>
                <a:latin typeface="맑은 고딕"/>
              </a:defRPr>
            </a:pPr>
            <a:r>
              <a:t>BTS 교통카드 피처 (10개)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bts_ride_total, bts_peak_ride, bts_route_count, bts_commuter_ratio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bts_pm_ride, bts_unique_routes, bts_ride_std, bts_ride_max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bts_morning_getoff (오전 하차 → 저녁 승차 예측)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bus_interval (노선별 평균 배차간격)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19/33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4-2. 팀원 고유 피처 (55 → 59개)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usertype_tourist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BTS 관광객 비율 (평균 76.7%)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990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관광 노선 = 저녁 수요 패턴이 다름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usertype_local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7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BTS 현지인 비율 (평균 13.4%)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21991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현지인 비율 높은 곳 = 퇴근 수요↑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060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dist_to_dong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7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동(洞) 중심까지 거리 (평균 15.2km)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44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시내 중심부 접근성 = 수요와 상관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8229600" cy="713232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64008" cy="7132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passed_days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758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경과일수 (train: 0~29, test: 30~45)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6791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시간 흐름에 따른 트렌드 포착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20/33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5. 모델링 — 발전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맑은 고딕"/>
              </a:defRPr>
            </a:pPr>
            <a:r>
              <a:t>plan9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60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맑은 고딕"/>
              </a:defRPr>
            </a:pPr>
            <a:r>
              <a:t>단독 최고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55개가 최적 피처 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64008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맑은 고딕"/>
              </a:defRPr>
            </a:pPr>
            <a:r>
              <a:t>plan10~16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18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57~95개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184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184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전부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618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피처 추가 = 과적합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31136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31136"/>
            <a:ext cx="64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768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plan17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276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95개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2768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 + 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2768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개선!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276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모델 다양성이 핵심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89504"/>
            <a:ext cx="8229600" cy="566928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889504"/>
            <a:ext cx="64008" cy="5669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352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plan19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9352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95개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9352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LGB+RF Optuna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9352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추가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9352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RF 튜닝 효과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1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547872"/>
            <a:ext cx="6400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93591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Team E1i4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593591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55+59개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5935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LGB+RF+XGB</a:t>
            </a:r>
            <a:br/>
            <a:r>
              <a:t>3-way 블렌딩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59359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Private 최고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59359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다관점 블렌딩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867911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→ 최종 채택: 55개·59개·95개 모델을 각각 학습 후 가중 블렌딩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21/33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5-1. Step 1: 55개 피처 모델 (베이스라인)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LightGBM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Optuna 15 trials 자동 튜닝</a:t>
            </a:r>
          </a:p>
          <a:p>
            <a:pPr>
              <a:spcAft>
                <a:spcPts val="200"/>
              </a:spcAft>
              <a:defRPr sz="1100" b="1">
                <a:solidFill>
                  <a:srgbClr val="34D399"/>
                </a:solidFill>
                <a:latin typeface="맑은 고딕"/>
              </a:defRPr>
            </a:pPr>
            <a:r>
              <a:t>▸ Best RMSE: 0.7041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3 Seeds × 5-Fold = 15개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0058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RandomForest + XGBoost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RF: 3 Seeds × 5-Fold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XGB: CPU 학습, RMSE ~0.683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3모델 평균 RMSE: 0.6931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55개 모델 = 검증된 안정적 베이스라인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가장 오랫동안 실험한 피처셋 → 과적합 위험 가장 낮음</a:t>
            </a:r>
          </a:p>
          <a:p>
            <a:pPr>
              <a:spcAft>
                <a:spcPts val="200"/>
              </a:spcAft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▸ 최종 블렌딩에서 가중치 0.5 (가장 높은 비중)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22/33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5-2. Step 2: 59개 피처 모델 (팀원 피처 추가)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55개 + 팀원 고유 4개 = 59개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Optuna 15 trials (LGB)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LGB Best RMSE: 0.7041</a:t>
            </a:r>
          </a:p>
          <a:p>
            <a:pPr>
              <a:spcAft>
                <a:spcPts val="200"/>
              </a:spcAft>
              <a:defRPr sz="1000" b="1">
                <a:solidFill>
                  <a:srgbClr val="34D399"/>
                </a:solidFill>
                <a:latin typeface="맑은 고딕"/>
              </a:defRPr>
            </a:pPr>
            <a:r>
              <a:t>▸ 3모델 평균 RMSE: 0.6900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66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3749039" cy="1737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59개 → 55개 대비 RMSE 0.003 개선!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팀원 고유 피처 4개가 실제로 예측력 향상에 기여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55 vs 59 예측 상관: 0.9992 (매우 높음)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상관이 높아 블렌딩 효과는 제한적이지만, 단독 성능은 더 우수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최종 블렌딩에서 가중치 0.2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23/33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5-3. 적대적 검증 (Adversarial Validation)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목적: Train과 Test의 분포 차이 확인 → CV 점수 신뢰도 검증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방법: Train(label=0) + Test(label=1) → LGBMClassifier 분류 → AUC 측정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결과: 55개 AUC = 1.0000 / 59개 AUC = 1.0000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AUC = 1.0은 Train/Test가 완전히 구분 가능하다는 의미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→ 이는 Train(9월)과 Test(10월)의 날짜 자체가 다르기 때문 (자연스러운 현상)</a:t>
            </a:r>
          </a:p>
          <a:p>
            <a:pPr>
              <a:spcAft>
                <a:spcPts val="200"/>
              </a:spcAft>
              <a:defRPr sz="1000" b="0">
                <a:solidFill>
                  <a:srgbClr val="34D399"/>
                </a:solidFill>
                <a:latin typeface="맑은 고딕"/>
              </a:defRPr>
            </a:pPr>
            <a:r>
              <a:t>→ CV 점수를 과신하지 않고, 다양한 모델 블렌딩으로 일반화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24/33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5-4. Step 3: 블렌딩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OOF(Out-of-Fold) 블렌딩 비교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55개 단독:         RMSE = 0.6931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  59개 단독:         RMSE = 0.6900  ← 단독 최고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55:0.5 + 59:0.5:  RMSE = 0.6913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55:0.6 + 59:0.4:  RMSE = 0.6916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55:0.7 + 59:0.3:  RMSE = 0.6920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최종 제출 전략: 3-Way 블렌딩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submission_team1_3way.csv = 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55개 모델 × 0.5  (검증된 베이스라인, 안정성 확보)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59개 모델 × 0.2  (팀원 피처 추가, 미세 개선)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95개 모델 × 0.3  (대량 피처 + LGB+RF, 다양성 확보)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→ Private 리더보드에서 가장 높은 점수 달성!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25/33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왜 3-Way 블렌딩이 최고 점수인가?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601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55개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60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핵심 예측력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검증된 최적 피처셋</a:t>
            </a:r>
            <a:br/>
            <a:r>
              <a:t>오랜 실험으로 안정성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51560"/>
            <a:ext cx="1645920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051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가중치</a:t>
            </a:r>
            <a:br/>
            <a:r>
              <a:t>0.5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8229600" cy="9601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59개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미세한 차이 포착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팀원 고유 피처가 포착한</a:t>
            </a:r>
            <a:br/>
            <a:r>
              <a:t>관광객/현지인 패턴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48840"/>
            <a:ext cx="164592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가중치</a:t>
            </a:r>
            <a:br/>
            <a:r>
              <a:t>0.2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8229600" cy="9601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64008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546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맑은 고딕"/>
              </a:defRPr>
            </a:pPr>
            <a:r>
              <a:t>95개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1546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다른 관점의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29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LGB+RF 앙상블</a:t>
            </a:r>
            <a:br/>
            <a:r>
              <a:t>대량 피처로 다양성 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246120"/>
            <a:ext cx="1645920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가중치</a:t>
            </a:r>
            <a:br/>
            <a:r>
              <a:t>0.3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0F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→ 세 모델이 각각 다른 관점으로 예측 → 서로의 약점을 보완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26/33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6. 최종 결과 &amp; 제출</a:t>
            </a:r>
          </a:p>
        </p:txBody>
      </p:sp>
      <p:pic>
        <p:nvPicPr>
          <p:cNvPr id="3" name="Picture 2" descr="result_3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1005840"/>
          </a:xfrm>
          <a:prstGeom prst="rect">
            <a:avLst/>
          </a:prstGeom>
        </p:spPr>
      </p:pic>
      <p:pic>
        <p:nvPicPr>
          <p:cNvPr id="4" name="Picture 3" descr="result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2286000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914400"/>
            <a:ext cx="3383280" cy="22860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0058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제출 파일 목록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team1_55.csv (55개 단독)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team1_59.csv (59개 단독)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team1_blend_5_5.csv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team1_blend_6_4.csv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★ team1_3way.csv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  → Private 13위!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핵심 교훈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1. 피처 수 ≠ 성능 (55개가 95개보다 단독 성능 우수)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2. 모델 다양성이 블렌딩의 핵심 (LGB+RF+XGB의 서로 다른 결정 경계)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3. 팀원 고유 피처가 미세하지만 실질적 개선 기여 (0.003 RMSE 향상)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27/33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핵심 인사이트 &amp; 교훈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4008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EDA → 피처 엔지니어링의 직접적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모든 피처는 EDA 발견에서 출발 — 근거 없는 피처는 노이즈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64008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피처 수보다 피처 품질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55개 &gt; 95개: 더 많은 피처가 항상 좋은 것은 아님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40864"/>
            <a:ext cx="64008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팀원 80% 아이디어 겹침 = 올바른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독립적으로 같은 결론 → 강력한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54096"/>
            <a:ext cx="64008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99815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맑은 고딕"/>
              </a:defRPr>
            </a:pPr>
            <a:r>
              <a:t>모델 다양성이 블렌딩의 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3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같은 LGB끼리보다 LGB+RF+XGB 조합이 효과적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67328"/>
            <a:ext cx="64008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13048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맑은 고딕"/>
              </a:defRPr>
            </a:pPr>
            <a:r>
              <a:t>3-Way 블렌딩의 위력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5993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각각 다른 관점의 예측을 결합하면 단독보다 강력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28/33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EDA Ch.4 보충 — 이용객 유형 시각화</a:t>
            </a:r>
          </a:p>
        </p:txBody>
      </p:sp>
      <p:pic>
        <p:nvPicPr>
          <p:cNvPr id="3" name="Picture 2" descr="cell35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297680" cy="2194560"/>
          </a:xfrm>
          <a:prstGeom prst="rect">
            <a:avLst/>
          </a:prstGeom>
        </p:spPr>
      </p:pic>
      <p:pic>
        <p:nvPicPr>
          <p:cNvPr id="4" name="Picture 3" descr="cell36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77240"/>
            <a:ext cx="4114800" cy="2194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108960"/>
            <a:ext cx="841248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  <a:latin typeface="맑은 고딕"/>
              </a:defRPr>
            </a:pPr>
            <a:r>
              <a:t>이용객 유형별 시간대 &amp; 노선 선호도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각 유형(관광객/직장인/현지인/대학생)이 이용하는 노선과 시간대가 뚜렷하게 다름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직장인: 아침 피크 → 저녁 피크 / 관광객: 시간대 분산</a:t>
            </a:r>
          </a:p>
          <a:p>
            <a:pPr>
              <a:spcAft>
                <a:spcPts val="2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▸ 이 패턴이 BTS 기반 피처(commuter_ratio, usertype_tourist 등)의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29/33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5-5. CV 프레임워크 &amp; Optuna 튜닝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교차검증 설정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5-Fold KFold (shuffle=True)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log1p(y) 학습 → expm1() 복원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OOF 예측으로 RMSE 평가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3 Seeds (42, 123, 456) 평균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clip(0) 음수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00584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Optuna 하이퍼파라미터 튜닝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15 trials / TPE sampler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learning_rate: 0.01~0.1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num_leaves: 15~100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max_depth: 4~12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subsample / colsample: 0.5~0.95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▸ reg_alpha / reg_lambda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사용 모델 3종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LightGBM (Gradient Boosting)  |  RandomForest (Bagging)  |  XGBoost (Gradient Boosting)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30/33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팀 피처 통합 검증 결과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D399"/>
                </a:solidFill>
                <a:latin typeface="맑은 고딕"/>
              </a:defRPr>
            </a:pPr>
            <a:r>
              <a:t>추가된 팀원 고유 피처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usertype_tourist: 관광객 비율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usertype_local: 현지인 비율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dist_to_dong: 동 중심 거리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passed_days: 경과일수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  <a:latin typeface="맑은 고딕"/>
              </a:defRPr>
            </a:pPr>
            <a:r>
              <a:t>CV RMSE 비교</a:t>
            </a:r>
          </a:p>
          <a:p>
            <a:pPr>
              <a:spcAft>
                <a:spcPts val="2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55개 (기존):     0.6931</a:t>
            </a:r>
          </a:p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  59개 (55+팀원):  0.6900  → 0.0031 개선!</a:t>
            </a:r>
          </a:p>
          <a:p>
            <a:pPr>
              <a:spcAft>
                <a:spcPts val="200"/>
              </a:spcAft>
              <a:defRPr sz="6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55 vs 59 예측 상관: 0.9992</a:t>
            </a: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상관이 높아서 블렌딩 효과는 제한적</a:t>
            </a:r>
          </a:p>
          <a:p>
            <a:pPr>
              <a:spcAft>
                <a:spcPts val="2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  하지만 단독 성능은 59개가 우수 → 3-way 블렌딩의 일부로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31/33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전체 흐름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132588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맑은 고딕"/>
              </a:defRPr>
            </a:pPr>
            <a:r>
              <a:t>데이터 4종 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train/test</a:t>
            </a:r>
            <a:br/>
            <a:r>
              <a:t>bus_bts/기상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005840"/>
            <a:ext cx="132588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맑은 고딕"/>
              </a:defRPr>
            </a:pPr>
            <a:r>
              <a:t>EDA 5개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팀원 5명</a:t>
            </a:r>
            <a:br/>
            <a:r>
              <a:t>각자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005840"/>
            <a:ext cx="1325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전처리 6단계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기상·날짜·BTS</a:t>
            </a:r>
            <a:br/>
            <a:r>
              <a:t>log1p 변환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005840"/>
            <a:ext cx="13258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피처 엔지니어링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공통 55개</a:t>
            </a:r>
            <a:br/>
            <a:r>
              <a:t>+팀원 4개=59개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005840"/>
            <a:ext cx="1325880" cy="457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333EA"/>
                </a:solidFill>
                <a:latin typeface="맑은 고딕"/>
              </a:defRPr>
            </a:pPr>
            <a:r>
              <a:t>모델링 3모델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LGB+RF+XGB</a:t>
            </a:r>
            <a:br/>
            <a:r>
              <a:t>Optuna 튜닝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55448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005840"/>
            <a:ext cx="1325880" cy="164592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1005840"/>
            <a:ext cx="1325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143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3-Way 블렌딩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16002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맑은 고딕"/>
              </a:defRPr>
            </a:pPr>
            <a:r>
              <a:t>55×0.5+59×0.2</a:t>
            </a:r>
            <a:br/>
            <a:r>
              <a:t>+95×0.3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8229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2004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핵심 메시지</a:t>
            </a:r>
          </a:p>
          <a:p>
            <a:pPr>
              <a:spcAft>
                <a:spcPts val="200"/>
              </a:spcAft>
              <a:defRPr sz="400" b="0">
                <a:solidFill>
                  <a:srgbClr val="CBD5E1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1. EDA에서 발견한 인사이트 → 피처 엔지니어링의 직접적 근거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2. 팀원 80% 아이디어 겹침 = 올바른 방향의 강력한 검증</a:t>
            </a:r>
          </a:p>
          <a:p>
            <a:pPr>
              <a:spcAft>
                <a:spcPts val="200"/>
              </a:spcAft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3. 피처 품질 &gt; 피처 수 (55개 &gt; 95개)</a:t>
            </a:r>
          </a:p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4. 3-Way 블렌딩으로 다양한 관점 결합 → Private 13위 달성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Dacon 제주도 퇴근시간 버스 승차인원 예측 | Team E1i4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32/33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D399"/>
                </a:solidFill>
                <a:latin typeface="맑은 고딕"/>
              </a:defRPr>
            </a:pPr>
            <a:r>
              <a:t>제주도 퇴근시간 버스 승차인원 예측 — Team E1i4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Dacon AI 경진대회 | 5인 팀 | Private 13위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4709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33/33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