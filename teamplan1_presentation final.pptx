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제주도 퇴근시간 버스 승차인원 예측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34D399"/>
                </a:solidFill>
                <a:latin typeface="맑은 고딕"/>
              </a:defRPr>
            </a:pPr>
            <a:r>
              <a:t>Team E1i4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맑은 고딕"/>
              </a:defRPr>
            </a:pPr>
            <a:r>
              <a:t>Dacon AI 경진대회 | 5인 팀 프로젝트 | Private 13위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77440"/>
            <a:ext cx="2286000" cy="329184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59E0B"/>
                </a:solidFill>
                <a:latin typeface="맑은 고딕"/>
              </a:defRPr>
            </a:pPr>
            <a:r>
              <a:t>평가지표: RMSE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2377440"/>
            <a:ext cx="2286000" cy="329184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2377440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타겟: 18~20시 승차인원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2377440"/>
            <a:ext cx="2286000" cy="329184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0" y="2377440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4D399"/>
                </a:solidFill>
                <a:latin typeface="맑은 고딕"/>
              </a:defRPr>
            </a:pPr>
            <a:r>
              <a:t>팀원: 5명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프로젝트 개요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2103120" cy="3840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대회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0" y="960120"/>
            <a:ext cx="6126480" cy="3840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51760" y="96012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Dacon 제주 버스탑승객수예측 AI 경진대회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35608"/>
            <a:ext cx="2103120" cy="384048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3560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목표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1435608"/>
            <a:ext cx="6126480" cy="384048"/>
          </a:xfrm>
          <a:prstGeom prst="rect">
            <a:avLst/>
          </a:prstGeom>
          <a:solidFill>
            <a:srgbClr val="1C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1435608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18~20시 저녁 승차인원(18~20_ride) 예측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11095"/>
            <a:ext cx="2103120" cy="384048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911095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평가지표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0" y="1911095"/>
            <a:ext cx="6126480" cy="384048"/>
          </a:xfrm>
          <a:prstGeom prst="rect">
            <a:avLst/>
          </a:prstGeom>
          <a:solidFill>
            <a:srgbClr val="1C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1911095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RMSE (Root Mean Squared Error)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386584"/>
            <a:ext cx="2103120" cy="384048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386584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학습 데이터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0" y="2386584"/>
            <a:ext cx="6126480" cy="384048"/>
          </a:xfrm>
          <a:prstGeom prst="rect">
            <a:avLst/>
          </a:prstGeom>
          <a:solidFill>
            <a:srgbClr val="1C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1760" y="2386584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2019년 9월 (30일, 415,423행)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862072"/>
            <a:ext cx="2103120" cy="384048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86207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예측 대상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0" y="2862072"/>
            <a:ext cx="6126480" cy="384048"/>
          </a:xfrm>
          <a:prstGeom prst="rect">
            <a:avLst/>
          </a:prstGeom>
          <a:solidFill>
            <a:srgbClr val="1C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51760" y="2862072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2019년 10월 1~16일 (228,170행)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337560"/>
            <a:ext cx="2103120" cy="384048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33756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사용 데이터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0" y="3337560"/>
            <a:ext cx="6126480" cy="384048"/>
          </a:xfrm>
          <a:prstGeom prst="rect">
            <a:avLst/>
          </a:prstGeom>
          <a:solidFill>
            <a:srgbClr val="1C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333756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train/test, bus_bts, 기상 데이터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931920"/>
            <a:ext cx="64008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3977639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맑은 고딕"/>
              </a:defRPr>
            </a:pPr>
            <a:r>
              <a:t>최종 결과: Private 13위 (submission_team1_3way.csv)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25196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55개 × 0.5 + 59개 × 0.2 + 95개 × 0.3 = 3-way 블렌딩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Dacon 제주도 퇴근시간 버스 승차인원 예측 | Team E1i4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47091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2/33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전체 파이프라인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097280"/>
            <a:ext cx="1280160" cy="146304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1280160" cy="45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69164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데이터 로드</a:t>
            </a:r>
            <a:br/>
            <a:r>
              <a:t>&amp; 기본 확인</a:t>
            </a:r>
          </a:p>
        </p:txBody>
      </p:sp>
      <p:sp>
        <p:nvSpPr>
          <p:cNvPr id="8" name="Rectangle 7"/>
          <p:cNvSpPr/>
          <p:nvPr/>
        </p:nvSpPr>
        <p:spPr>
          <a:xfrm>
            <a:off x="1719072" y="1097280"/>
            <a:ext cx="1280160" cy="146304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19072" y="1097280"/>
            <a:ext cx="1280160" cy="457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76272" y="1234440"/>
            <a:ext cx="365760" cy="3657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76272" y="1234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64792" y="169164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EDA</a:t>
            </a:r>
            <a:br/>
            <a:r>
              <a:t>(팀원 5명)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63824" y="1097280"/>
            <a:ext cx="1280160" cy="146304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63824" y="1097280"/>
            <a:ext cx="128016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21024" y="1234440"/>
            <a:ext cx="365760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234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9544" y="169164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전처리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08576" y="1097280"/>
            <a:ext cx="1280160" cy="146304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08576" y="1097280"/>
            <a:ext cx="128016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65776" y="1234440"/>
            <a:ext cx="365760" cy="3657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65776" y="1234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54296" y="169164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특성</a:t>
            </a:r>
            <a:br/>
            <a:r>
              <a:t>엔지니어링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53328" y="1097280"/>
            <a:ext cx="1280160" cy="146304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53328" y="1097280"/>
            <a:ext cx="1280160" cy="4572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10528" y="1234440"/>
            <a:ext cx="365760" cy="36576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0528" y="1234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9048" y="169164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모델링</a:t>
            </a:r>
            <a:br/>
            <a:r>
              <a:t>&amp; 튜닝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80" y="1097280"/>
            <a:ext cx="1280160" cy="146304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98080" y="1097280"/>
            <a:ext cx="128016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55280" y="1234440"/>
            <a:ext cx="36576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80" y="1234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43800" y="169164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블렌딩</a:t>
            </a:r>
            <a:br/>
            <a:r>
              <a:t>&amp; 제출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3017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4D399"/>
                </a:solidFill>
                <a:latin typeface="맑은 고딕"/>
              </a:defRPr>
            </a:pPr>
            <a:r>
              <a:t>415K행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429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학습 데이터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60320" y="3017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59E0B"/>
                </a:solidFill>
                <a:latin typeface="맑은 고딕"/>
              </a:defRPr>
            </a:pPr>
            <a:r>
              <a:t>228K행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60320" y="3429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예측 대상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3017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0B981"/>
                </a:solidFill>
                <a:latin typeface="맑은 고딕"/>
              </a:defRPr>
            </a:pPr>
            <a:r>
              <a:t>59개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3440" y="3429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최종 피처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59" y="3017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8B5CF6"/>
                </a:solidFill>
                <a:latin typeface="맑은 고딕"/>
              </a:defRPr>
            </a:pPr>
            <a:r>
              <a:t>3-Way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59" y="3429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블렌딩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Dacon 제주도 퇴근시간 버스 승차인원 예측 | Team E1i4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47091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3/33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1. 데이터 로드 &amp; 기본 확인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맑은 고딕"/>
              </a:defRPr>
            </a:pPr>
            <a:r>
              <a:t>train.csv (415,423행)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정류장별 시간대 승하차 인원 + 타겟(18~20_ride)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8229600" cy="54864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맑은 고딕"/>
              </a:defRPr>
            </a:pPr>
            <a:r>
              <a:t>test.csv (228,170행)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10월 1~16일 데이터 (타겟 없음)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8229600" cy="54864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맑은 고딕"/>
              </a:defRPr>
            </a:pPr>
            <a:r>
              <a:t>bus_bts.csv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BTS 교통카드 기반 노선별 승하차 상세 데이터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80359"/>
            <a:ext cx="8229600" cy="54864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926079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맑은 고딕"/>
              </a:defRPr>
            </a:pPr>
            <a:r>
              <a:t>기상 데이터 (2종)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54679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기상청 9월/10월 시간별 기온·강수량·풍속·일조시간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611880"/>
            <a:ext cx="8229600" cy="82296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611880"/>
            <a:ext cx="64008" cy="8229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657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59E0B"/>
                </a:solidFill>
                <a:latin typeface="맑은 고딕"/>
              </a:defRPr>
            </a:pPr>
            <a:r>
              <a:t>타겟 분포 특성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평균: 1.24 | 중위값: 0 | 최대: 272 | 0인 비율: 71.4% | 왜도: 14.89</a:t>
            </a:r>
          </a:p>
          <a:p>
            <a:pPr>
              <a:spcAft>
                <a:spcPts val="200"/>
              </a:spcAft>
              <a:defRPr sz="1000" b="0">
                <a:solidFill>
                  <a:srgbClr val="34D399"/>
                </a:solidFill>
                <a:latin typeface="맑은 고딕"/>
              </a:defRPr>
            </a:pPr>
            <a:r>
              <a:t>→ 극단적 우편향 분포 → log1p 변환 필수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Dacon 제주도 퇴근시간 버스 승차인원 예측 | Team E1i4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7091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4/33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2. EDA (탐색적 데이터 분석) —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팀원 5명이 각자 진행한 EDA를 통합 → 핵심 인사이트가 특성 엔지니어링의 근거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8229600" cy="621792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64008" cy="62179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548640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Ch.1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188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59669"/>
                </a:solidFill>
                <a:latin typeface="맑은 고딕"/>
              </a:defRPr>
            </a:pPr>
            <a:r>
              <a:t>언제 타는가?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46304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시간과 이동 목적의 변화</a:t>
            </a:r>
            <a:br/>
            <a:r>
              <a:t>→ 요일별·공휴일 승차 패턴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56232"/>
            <a:ext cx="8229600" cy="621792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856232"/>
            <a:ext cx="64008" cy="62179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947672"/>
            <a:ext cx="548640" cy="4114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94767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Ch.2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19019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891B2"/>
                </a:solidFill>
                <a:latin typeface="맑은 고딕"/>
              </a:defRPr>
            </a:pPr>
            <a:r>
              <a:t>오전 ↔ 저녁 상관관계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17627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출근 승차량 → 퇴근 승차량 예측 가능</a:t>
            </a:r>
            <a:br/>
            <a:r>
              <a:t>→ 시간대별 파생 피처의 근거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569464"/>
            <a:ext cx="8229600" cy="621792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569464"/>
            <a:ext cx="64008" cy="6217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2660904"/>
            <a:ext cx="548640" cy="411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660904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Ch.3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26151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맑은 고딕"/>
              </a:defRPr>
            </a:pPr>
            <a:r>
              <a:t>어디서 타는가?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2889504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정류장 입지와 역할 규명</a:t>
            </a:r>
            <a:br/>
            <a:r>
              <a:t>→ 위치 기반 피처의 근거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282696"/>
            <a:ext cx="8229600" cy="621792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282696"/>
            <a:ext cx="64008" cy="6217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3374136"/>
            <a:ext cx="548640" cy="411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374136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Ch.4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32841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맑은 고딕"/>
              </a:defRPr>
            </a:pPr>
            <a:r>
              <a:t>이용객 유형 분석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3602736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관광객·직장인·현지인·대학생</a:t>
            </a:r>
            <a:br/>
            <a:r>
              <a:t>→ BTS 유형별 피처의 근거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995928"/>
            <a:ext cx="8229600" cy="621792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3995928"/>
            <a:ext cx="64008" cy="62179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4087368"/>
            <a:ext cx="548640" cy="4114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08736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Ch.5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40416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97316"/>
                </a:solidFill>
                <a:latin typeface="맑은 고딕"/>
              </a:defRPr>
            </a:pPr>
            <a:r>
              <a:t>기상 이변의 영향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4315968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폭우·태풍 → 이상치 유발</a:t>
            </a:r>
            <a:br/>
            <a:r>
              <a:t>→ 날씨 피처의 근거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Dacon 제주도 퇴근시간 버스 승차인원 예측 | Team E1i4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47091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5/33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EDA Ch.1 — 언제 타는가?</a:t>
            </a:r>
          </a:p>
        </p:txBody>
      </p:sp>
      <p:pic>
        <p:nvPicPr>
          <p:cNvPr id="3" name="Picture 2" descr="cell15_a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4114800" cy="2560320"/>
          </a:xfrm>
          <a:prstGeom prst="rect">
            <a:avLst/>
          </a:prstGeom>
        </p:spPr>
      </p:pic>
      <p:pic>
        <p:nvPicPr>
          <p:cNvPr id="4" name="Picture 3" descr="cell17_at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822960"/>
            <a:ext cx="4114800" cy="25603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74320" y="3520440"/>
            <a:ext cx="8412480" cy="100584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56616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34D399"/>
                </a:solidFill>
                <a:latin typeface="맑은 고딕"/>
              </a:defRPr>
            </a:pPr>
            <a:r>
              <a:t>핵심 발견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평일 vs 주말 승차 패턴이 완전히 다름 → dayofweek, is_weekend 피처의 근거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추석 연휴(9/12~14) 기간 승차량 급감 → is_holiday 피처의 근거</a:t>
            </a:r>
          </a:p>
          <a:p>
            <a:pPr>
              <a:spcAft>
                <a:spcPts val="200"/>
              </a:spcAft>
              <a:defRPr sz="1000" b="0">
                <a:solidFill>
                  <a:srgbClr val="F59E0B"/>
                </a:solidFill>
                <a:latin typeface="맑은 고딕"/>
              </a:defRPr>
            </a:pPr>
            <a:r>
              <a:t>▸ 같은 평일이라도 요일별 차이 존재(수 1.43 최고, 금 1.07 최저) → 요일별 TE의 근거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Dacon 제주도 퇴근시간 버스 승차인원 예측 | Team E1i4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47091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6/33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EDA Ch.2 — 오전 승차량 vs 저녁 승차량</a:t>
            </a:r>
          </a:p>
        </p:txBody>
      </p:sp>
      <p:pic>
        <p:nvPicPr>
          <p:cNvPr id="3" name="Picture 2" descr="cell20_a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85800"/>
            <a:ext cx="8595360" cy="40233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Dacon 제주도 퇴근시간 버스 승차인원 예측 | Team E1i4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7/33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EDA Ch.2 — 시간대별 승차 분포 &amp; 핵심 발견</a:t>
            </a:r>
          </a:p>
        </p:txBody>
      </p:sp>
      <p:pic>
        <p:nvPicPr>
          <p:cNvPr id="3" name="Picture 2" descr="cell22_a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85800"/>
            <a:ext cx="8595360" cy="2286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74320" y="3108960"/>
            <a:ext cx="8412480" cy="137160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8046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34D399"/>
                </a:solidFill>
                <a:latin typeface="맑은 고딕"/>
              </a:defRPr>
            </a:pPr>
            <a:r>
              <a:t>핵심 발견: 출근 승차량 ∝ 퇴근 승차량</a:t>
            </a:r>
          </a:p>
          <a:p>
            <a:pPr>
              <a:spcAft>
                <a:spcPts val="200"/>
              </a:spcAft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▸ 오전(6~12시) 승차 인원이 높은 정류장 = 저녁(18~20시)에도 높음</a:t>
            </a:r>
          </a:p>
          <a:p>
            <a:pPr>
              <a:spcAft>
                <a:spcPts val="200"/>
              </a:spcAft>
              <a:defRPr sz="1100" b="0">
                <a:solidFill>
                  <a:srgbClr val="F59E0B"/>
                </a:solidFill>
                <a:latin typeface="맑은 고딕"/>
              </a:defRPr>
            </a:pPr>
            <a:r>
              <a:t>▸ Pearson r = 0.622 → ride_total, ride_6_8, peak_ride 등 파생 피처의 핵심 근거</a:t>
            </a:r>
          </a:p>
          <a:p>
            <a:pPr>
              <a:spcAft>
                <a:spcPts val="200"/>
              </a:spcAft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▸ 8~9시가 가장 높고, 이상치 분포도 18~20시와 유사한 패턴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Dacon 제주도 퇴근시간 버스 승차인원 예측 | Team E1i4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47091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8/33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EDA Ch.2 — 시간대별 상관관계 히트맵</a:t>
            </a:r>
          </a:p>
        </p:txBody>
      </p:sp>
      <p:pic>
        <p:nvPicPr>
          <p:cNvPr id="3" name="Picture 2" descr="cell23_a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4114800" cy="32004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846320" y="822960"/>
            <a:ext cx="3840480" cy="320040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914400"/>
            <a:ext cx="34747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34D399"/>
                </a:solidFill>
                <a:latin typeface="맑은 고딕"/>
              </a:defRPr>
            </a:pPr>
            <a:r>
              <a:t>상관계수 히트맵 분석</a:t>
            </a:r>
          </a:p>
          <a:p>
            <a:pPr>
              <a:spcAft>
                <a:spcPts val="200"/>
              </a:spcAft>
              <a:defRPr sz="600" b="0">
                <a:solidFill>
                  <a:srgbClr val="CBD5E1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모든 시간대 승차량이 서로 양의 상관</a:t>
            </a:r>
          </a:p>
          <a:p>
            <a:pPr>
              <a:spcAft>
                <a:spcPts val="200"/>
              </a:spcAft>
              <a:defRPr sz="400" b="0">
                <a:solidFill>
                  <a:srgbClr val="CBD5E1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특히 인접 시간대끼리 상관이 높음</a:t>
            </a:r>
          </a:p>
          <a:p>
            <a:pPr>
              <a:spcAft>
                <a:spcPts val="200"/>
              </a:spcAft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  예) 8~9시 ↔ 9~10시</a:t>
            </a:r>
          </a:p>
          <a:p>
            <a:pPr>
              <a:spcAft>
                <a:spcPts val="200"/>
              </a:spcAft>
              <a:defRPr sz="400" b="0">
                <a:solidFill>
                  <a:srgbClr val="CBD5E1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1100" b="0">
                <a:solidFill>
                  <a:srgbClr val="F59E0B"/>
                </a:solidFill>
                <a:latin typeface="맑은 고딕"/>
              </a:defRPr>
            </a:pPr>
            <a:r>
              <a:t>→ 시간대 집계 피처(ride_6_8 등)</a:t>
            </a:r>
          </a:p>
          <a:p>
            <a:pPr>
              <a:spcAft>
                <a:spcPts val="200"/>
              </a:spcAft>
              <a:defRPr sz="1000" b="0">
                <a:solidFill>
                  <a:srgbClr val="F59E0B"/>
                </a:solidFill>
                <a:latin typeface="맑은 고딕"/>
              </a:defRPr>
            </a:pPr>
            <a:r>
              <a:t>  가 타겟 예측에 유효함을 확인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Dacon 제주도 퇴근시간 버스 승차인원 예측 | Team E1i4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47091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9/33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EDA Ch.3 — 저녁 승차량 상위 정류장</a:t>
            </a:r>
          </a:p>
        </p:txBody>
      </p:sp>
      <p:pic>
        <p:nvPicPr>
          <p:cNvPr id="3" name="Picture 2" descr="cell26_a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8229600" cy="40233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Dacon 제주도 퇴근시간 버스 승차인원 예측 | Team E1i4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10/33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EDA Ch.3 — 제주도 정류장별 승차량 지도</a:t>
            </a:r>
          </a:p>
        </p:txBody>
      </p:sp>
      <p:pic>
        <p:nvPicPr>
          <p:cNvPr id="3" name="Picture 2" descr="cell28_a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85800"/>
            <a:ext cx="5486400" cy="36576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43600" y="822960"/>
            <a:ext cx="2926080" cy="320040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0" y="914400"/>
            <a:ext cx="2560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34D399"/>
                </a:solidFill>
                <a:latin typeface="맑은 고딕"/>
              </a:defRPr>
            </a:pPr>
            <a:r>
              <a:t>핵심 발견</a:t>
            </a:r>
          </a:p>
          <a:p>
            <a:pPr>
              <a:spcAft>
                <a:spcPts val="200"/>
              </a:spcAft>
              <a:defRPr sz="600" b="0">
                <a:solidFill>
                  <a:srgbClr val="CBD5E1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▸ 제주시 중심부에 집중</a:t>
            </a:r>
          </a:p>
          <a:p>
            <a:pPr>
              <a:spcAft>
                <a:spcPts val="200"/>
              </a:spcAft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▸ 공항 인근 = 고수요</a:t>
            </a:r>
          </a:p>
          <a:p>
            <a:pPr>
              <a:spcAft>
                <a:spcPts val="200"/>
              </a:spcAft>
              <a:defRPr sz="400" b="0">
                <a:solidFill>
                  <a:srgbClr val="CBD5E1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1100" b="1">
                <a:solidFill>
                  <a:srgbClr val="F59E0B"/>
                </a:solidFill>
                <a:latin typeface="맑은 고딕"/>
              </a:defRPr>
            </a:pPr>
            <a:r>
              <a:t>→ dist_to_dong 피처</a:t>
            </a:r>
          </a:p>
          <a:p>
            <a:pPr>
              <a:spcAft>
                <a:spcPts val="200"/>
              </a:spcAft>
              <a:defRPr sz="1100" b="1">
                <a:solidFill>
                  <a:srgbClr val="F59E0B"/>
                </a:solidFill>
                <a:latin typeface="맑은 고딕"/>
              </a:defRPr>
            </a:pPr>
            <a:r>
              <a:t>→ station TE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Dacon 제주도 퇴근시간 버스 승차인원 예측 | Team E1i4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47091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11/33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EDA Ch.4 — 이용객 유형별 시간대 분석</a:t>
            </a:r>
          </a:p>
        </p:txBody>
      </p:sp>
      <p:pic>
        <p:nvPicPr>
          <p:cNvPr id="3" name="Picture 2" descr="cell33_a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85800"/>
            <a:ext cx="4114800" cy="3657600"/>
          </a:xfrm>
          <a:prstGeom prst="rect">
            <a:avLst/>
          </a:prstGeom>
        </p:spPr>
      </p:pic>
      <p:pic>
        <p:nvPicPr>
          <p:cNvPr id="4" name="Picture 3" descr="cell34_at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685800"/>
            <a:ext cx="4297680" cy="3657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Dacon 제주도 퇴근시간 버스 승차인원 예측 | Team E1i4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47091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12/33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EDA Ch.4 — 유형별 노선 선호도 &amp; 인사이트</a:t>
            </a:r>
          </a:p>
        </p:txBody>
      </p:sp>
      <p:pic>
        <p:nvPicPr>
          <p:cNvPr id="3" name="Picture 2" descr="cell35_a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85800"/>
            <a:ext cx="4114800" cy="2194560"/>
          </a:xfrm>
          <a:prstGeom prst="rect">
            <a:avLst/>
          </a:prstGeom>
        </p:spPr>
      </p:pic>
      <p:pic>
        <p:nvPicPr>
          <p:cNvPr id="4" name="Picture 3" descr="cell36_at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685800"/>
            <a:ext cx="4297680" cy="21945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74320" y="3017520"/>
            <a:ext cx="8412480" cy="146304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8046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34D399"/>
                </a:solidFill>
                <a:latin typeface="맑은 고딕"/>
              </a:defRPr>
            </a:pPr>
            <a:r>
              <a:t>BTS 교통카드 → 관광객 / 직장인 / 현지인 / 대학생 분류</a:t>
            </a:r>
          </a:p>
          <a:p>
            <a:pPr>
              <a:spcAft>
                <a:spcPts val="200"/>
              </a:spcAft>
              <a:defRPr sz="400" b="0">
                <a:solidFill>
                  <a:srgbClr val="CBD5E1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▸ 직장인: 출퇴근 쌍봉 패턴 / 관광객: 시간대 불규칙</a:t>
            </a:r>
          </a:p>
          <a:p>
            <a:pPr>
              <a:spcAft>
                <a:spcPts val="200"/>
              </a:spcAft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▸ 현지인: 생활권 다양 / 대학생: 통학 집중</a:t>
            </a:r>
          </a:p>
          <a:p>
            <a:pPr>
              <a:spcAft>
                <a:spcPts val="200"/>
              </a:spcAft>
              <a:defRPr sz="400" b="0">
                <a:solidFill>
                  <a:srgbClr val="CBD5E1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1200" b="1">
                <a:solidFill>
                  <a:srgbClr val="F59E0B"/>
                </a:solidFill>
                <a:latin typeface="맑은 고딕"/>
              </a:defRPr>
            </a:pPr>
            <a:r>
              <a:t>→ usertype_tourist, usertype_local 피처의 직접적 근거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Dacon 제주도 퇴근시간 버스 승차인원 예측 | Team E1i4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47091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13/33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EDA Ch.5 — 강수량 vs 승차인원</a:t>
            </a:r>
          </a:p>
        </p:txBody>
      </p:sp>
      <p:pic>
        <p:nvPicPr>
          <p:cNvPr id="3" name="Picture 2" descr="cell39_a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85800"/>
            <a:ext cx="8595360" cy="40233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Dacon 제주도 퇴근시간 버스 승차인원 예측 | Team E1i4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14/33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EDA Ch.5 — 기온·풍속 영향 &amp; 핵심 발견</a:t>
            </a:r>
          </a:p>
        </p:txBody>
      </p:sp>
      <p:pic>
        <p:nvPicPr>
          <p:cNvPr id="3" name="Picture 2" descr="cell40_a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85800"/>
            <a:ext cx="5029200" cy="2743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0" y="822960"/>
            <a:ext cx="3383280" cy="256032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0" y="914400"/>
            <a:ext cx="3017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34D399"/>
                </a:solidFill>
                <a:latin typeface="맑은 고딕"/>
              </a:defRPr>
            </a:pPr>
            <a:r>
              <a:t>가설 검증 결과</a:t>
            </a:r>
          </a:p>
          <a:p>
            <a:pPr>
              <a:spcAft>
                <a:spcPts val="200"/>
              </a:spcAft>
              <a:defRPr sz="600" b="0">
                <a:solidFill>
                  <a:srgbClr val="CBD5E1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극단적 날씨 →</a:t>
            </a:r>
          </a:p>
          <a:p>
            <a:pPr>
              <a:spcAft>
                <a:spcPts val="200"/>
              </a:spcAft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이상치 유발 확인</a:t>
            </a:r>
          </a:p>
          <a:p>
            <a:pPr>
              <a:spcAft>
                <a:spcPts val="200"/>
              </a:spcAft>
              <a:defRPr sz="400" b="0">
                <a:solidFill>
                  <a:srgbClr val="CBD5E1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1100" b="0">
                <a:solidFill>
                  <a:srgbClr val="F59E0B"/>
                </a:solidFill>
                <a:latin typeface="맑은 고딕"/>
              </a:defRPr>
            </a:pPr>
            <a:r>
              <a:t>▸ 강수량이 가장 중요</a:t>
            </a:r>
          </a:p>
          <a:p>
            <a:pPr>
              <a:spcAft>
                <a:spcPts val="200"/>
              </a:spcAft>
              <a:defRPr sz="1100" b="0">
                <a:solidFill>
                  <a:srgbClr val="F59E0B"/>
                </a:solidFill>
                <a:latin typeface="맑은 고딕"/>
              </a:defRPr>
            </a:pPr>
            <a:r>
              <a:t>▸ 태풍(9/22~23) = 극단</a:t>
            </a:r>
          </a:p>
          <a:p>
            <a:pPr>
              <a:spcAft>
                <a:spcPts val="200"/>
              </a:spcAft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▸ 기온/풍속은 약한 상관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3611880"/>
            <a:ext cx="8595360" cy="91440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59E0B"/>
                </a:solidFill>
                <a:latin typeface="맑은 고딕"/>
              </a:defRPr>
            </a:pPr>
            <a:r>
              <a:t>→ rain_sum, rain_evening, is_rainy, is_typhoon 피처의 근거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Dacon 제주도 퇴근시간 버스 승차인원 예측 | Team E1i4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7091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15/33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3. 전처리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75488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418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  <a:latin typeface="맑은 고딕"/>
              </a:defRPr>
            </a:pPr>
            <a:r>
              <a:t>기상 데이터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61288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시간별 → 일별 집계 (기온/강수량/풍속/일조) + 18~20시 저녁 별도 집계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8229600" cy="475488"/>
          </a:xfrm>
          <a:prstGeom prst="rect">
            <a:avLst/>
          </a:prstGeom>
          <a:solidFill>
            <a:srgbClr val="1C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904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  <a:latin typeface="맑은 고딕"/>
              </a:defRPr>
            </a:pPr>
            <a:r>
              <a:t>날짜 피처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요일, 주말, 공휴일(추석·개천절·한글날), 태풍(9/22~23)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8229600" cy="475488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3911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  <a:latin typeface="맑은 고딕"/>
              </a:defRPr>
            </a:pPr>
            <a:r>
              <a:t>in_out 인코딩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58568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'시내' → 0, '시외' →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60320"/>
            <a:ext cx="8229600" cy="475488"/>
          </a:xfrm>
          <a:prstGeom prst="rect">
            <a:avLst/>
          </a:prstGeom>
          <a:solidFill>
            <a:srgbClr val="1C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587751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  <a:latin typeface="맑은 고딕"/>
              </a:defRPr>
            </a:pPr>
            <a:r>
              <a:t>BTS merge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07208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bus_bts에서 정류장/노선별 집계 후 merge → 결측 0 대체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108960"/>
            <a:ext cx="8229600" cy="475488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136391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  <a:latin typeface="맑은 고딕"/>
              </a:defRPr>
            </a:pPr>
            <a:r>
              <a:t>타겟 변환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355848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log1p 변환 (극단적 우편향 → 정규분포에 가깝게)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57600"/>
            <a:ext cx="8229600" cy="475488"/>
          </a:xfrm>
          <a:prstGeom prst="rect">
            <a:avLst/>
          </a:prstGeom>
          <a:solidFill>
            <a:srgbClr val="1C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6850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  <a:latin typeface="맑은 고딕"/>
              </a:defRPr>
            </a:pPr>
            <a:r>
              <a:t>정류장 중복 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904487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train/test 정류장 겹침률 분석 → test에만 있는 정류장 대응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Dacon 제주도 퇴근시간 버스 승차인원 예측 | Team E1i4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7091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16/33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3-1. Train / Test 정류장 겹침 분석</a:t>
            </a:r>
          </a:p>
        </p:txBody>
      </p:sp>
      <p:pic>
        <p:nvPicPr>
          <p:cNvPr id="3" name="Picture 2" descr="cell44_a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5486400" cy="32004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217920" y="822960"/>
            <a:ext cx="2651760" cy="301752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0" y="914400"/>
            <a:ext cx="22860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34D399"/>
                </a:solidFill>
                <a:latin typeface="맑은 고딕"/>
              </a:defRPr>
            </a:pPr>
            <a:r>
              <a:t>왜 확인했는가?</a:t>
            </a:r>
          </a:p>
          <a:p>
            <a:pPr>
              <a:spcAft>
                <a:spcPts val="200"/>
              </a:spcAft>
              <a:defRPr sz="600" b="0">
                <a:solidFill>
                  <a:srgbClr val="CBD5E1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Test에만 있는 정류장은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모델이 한 번도 보지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못한 데이터</a:t>
            </a:r>
          </a:p>
          <a:p>
            <a:pPr>
              <a:spcAft>
                <a:spcPts val="200"/>
              </a:spcAft>
              <a:defRPr sz="600" b="0">
                <a:solidFill>
                  <a:srgbClr val="CBD5E1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1100" b="0">
                <a:solidFill>
                  <a:srgbClr val="F59E0B"/>
                </a:solidFill>
                <a:latin typeface="맑은 고딕"/>
              </a:defRPr>
            </a:pPr>
            <a:r>
              <a:t>→ TE: global mean 대체</a:t>
            </a:r>
          </a:p>
          <a:p>
            <a:pPr>
              <a:spcAft>
                <a:spcPts val="200"/>
              </a:spcAft>
              <a:defRPr sz="1100" b="0">
                <a:solidFill>
                  <a:srgbClr val="F59E0B"/>
                </a:solidFill>
                <a:latin typeface="맑은 고딕"/>
              </a:defRPr>
            </a:pPr>
            <a:r>
              <a:t>→ BTS 피처: 결측 → 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Dacon 제주도 퇴근시간 버스 승차인원 예측 | Team E1i4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47091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17/33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4. 특성 엔지니어링 — 팀원 5명 피처 통합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solidFill>
            <a:srgbClr val="0F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맑은 고딕"/>
              </a:defRPr>
            </a:pPr>
            <a:r>
              <a:t>5명의 피처를 분석한 결과, 핵심 아이디어의 80%가 겹침</a:t>
            </a:r>
            <a:br/>
            <a:r>
              <a:t>→ 팀 전체가 올바른 방향으로 접근했다는 증거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8229600" cy="347472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4864" cy="34747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4D399"/>
                </a:solidFill>
                <a:latin typeface="맑은 고딕"/>
              </a:defRPr>
            </a:pPr>
            <a:r>
              <a:t>승차 원본+파생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46304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14개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4630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팀원 1,3,4,5 공통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47088"/>
            <a:ext cx="8229600" cy="347472"/>
          </a:xfrm>
          <a:prstGeom prst="rect">
            <a:avLst/>
          </a:prstGeom>
          <a:solidFill>
            <a:srgbClr val="1C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847088"/>
            <a:ext cx="54864" cy="34747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470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891B2"/>
                </a:solidFill>
                <a:latin typeface="맑은 고딕"/>
              </a:defRPr>
            </a:pPr>
            <a:r>
              <a:t>하차 파생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184708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5개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184708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팀원 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231136"/>
            <a:ext cx="8229600" cy="347472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231136"/>
            <a:ext cx="54864" cy="3474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23113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맑은 고딕"/>
              </a:defRPr>
            </a:pPr>
            <a:r>
              <a:t>순유입(net_flow)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223113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3개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2231136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팀원 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615184"/>
            <a:ext cx="8229600" cy="347472"/>
          </a:xfrm>
          <a:prstGeom prst="rect">
            <a:avLst/>
          </a:prstGeom>
          <a:solidFill>
            <a:srgbClr val="1C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615184"/>
            <a:ext cx="54864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61518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맑은 고딕"/>
              </a:defRPr>
            </a:pPr>
            <a:r>
              <a:t>Target Encoding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261518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3개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261518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팀원 1,2,3 공통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999232"/>
            <a:ext cx="8229600" cy="347472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2999232"/>
            <a:ext cx="54864" cy="347472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299923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333EA"/>
                </a:solidFill>
                <a:latin typeface="맑은 고딕"/>
              </a:defRPr>
            </a:pPr>
            <a:r>
              <a:t>날짜/기상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299923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12개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299923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팀원 전체 공통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383280"/>
            <a:ext cx="8229600" cy="347472"/>
          </a:xfrm>
          <a:prstGeom prst="rect">
            <a:avLst/>
          </a:prstGeom>
          <a:solidFill>
            <a:srgbClr val="1C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3383280"/>
            <a:ext cx="54864" cy="34747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38328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97316"/>
                </a:solidFill>
                <a:latin typeface="맑은 고딕"/>
              </a:defRPr>
            </a:pPr>
            <a:r>
              <a:t>BTS 교통카드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" y="338328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10개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338328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팀원 1,2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767328"/>
            <a:ext cx="8229600" cy="347472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3767328"/>
            <a:ext cx="54864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376732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맑은 고딕"/>
              </a:defRPr>
            </a:pPr>
            <a:r>
              <a:t>정류장/상호작용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17520" y="376732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4개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376732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팀원 3,5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151376"/>
            <a:ext cx="8229600" cy="347472"/>
          </a:xfrm>
          <a:prstGeom prst="rect">
            <a:avLst/>
          </a:prstGeom>
          <a:solidFill>
            <a:srgbClr val="1C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" y="4151376"/>
            <a:ext cx="54864" cy="3474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15137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  <a:latin typeface="맑은 고딕"/>
              </a:defRPr>
            </a:pPr>
            <a:r>
              <a:t>팀원 고유 피처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17520" y="415137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4개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0" y="4151376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팀원 4,5 (신규)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9E0B"/>
                </a:solidFill>
                <a:latin typeface="맑은 고딕"/>
              </a:defRPr>
            </a:pPr>
            <a:r>
              <a:t>기본 55개 (공통) + 팀원 고유 4개 = 59개 피처 구성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Dacon 제주도 퇴근시간 버스 승차인원 예측 | Team E1i4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0" y="47091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18/33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4-1. 핵심 피처 상세 — 승하차 &amp; 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3931920" cy="182880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34D399"/>
                </a:solidFill>
                <a:latin typeface="맑은 고딕"/>
              </a:defRPr>
            </a:pPr>
            <a:r>
              <a:t>승차 피처 (14개)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6~7_ride ~ 11~12_ride (원본 6개)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ride_6_8, ride_8_10, ride_10_12 (집계)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ride_total, peak_ride, ride_std 등</a:t>
            </a:r>
          </a:p>
          <a:p>
            <a:pPr>
              <a:spcAft>
                <a:spcPts val="200"/>
              </a:spcAft>
              <a:defRPr sz="1000" b="0">
                <a:solidFill>
                  <a:srgbClr val="F59E0B"/>
                </a:solidFill>
                <a:latin typeface="맑은 고딕"/>
              </a:defRPr>
            </a:pPr>
            <a:r>
              <a:t>▸ net_flow = ride − takeoff (순유입)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914400"/>
            <a:ext cx="3931920" cy="182880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0" y="100584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8B5CF6"/>
                </a:solidFill>
                <a:latin typeface="맑은 고딕"/>
              </a:defRPr>
            </a:pPr>
            <a:r>
              <a:t>Target Encoding (3개)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te_route_station (노선+정류장)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te_station (정류장)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te_route (노선)</a:t>
            </a:r>
          </a:p>
          <a:p>
            <a:pPr>
              <a:spcAft>
                <a:spcPts val="200"/>
              </a:spcAft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Smoothed 5-Fold K-Fold (m=20)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7772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F97316"/>
                </a:solidFill>
                <a:latin typeface="맑은 고딕"/>
              </a:defRPr>
            </a:pPr>
            <a:r>
              <a:t>BTS 교통카드 피처 (10개)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bts_total_users, bts_senior_ratio, bts_youth_ratio, bts_getoff_total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bts_rs_users, bts_commuter_ratio, bts_od_balance, bts_route_diversity</a:t>
            </a:r>
          </a:p>
          <a:p>
            <a:pPr>
              <a:spcAft>
                <a:spcPts val="200"/>
              </a:spcAft>
              <a:defRPr sz="1000" b="0">
                <a:solidFill>
                  <a:srgbClr val="F59E0B"/>
                </a:solidFill>
                <a:latin typeface="맑은 고딕"/>
              </a:defRPr>
            </a:pPr>
            <a:r>
              <a:t>▸ bts_morning_getoff (오전 하차 → 저녁 승차 예측)</a:t>
            </a:r>
          </a:p>
          <a:p>
            <a:pPr>
              <a:spcAft>
                <a:spcPts val="200"/>
              </a:spcAft>
              <a:defRPr sz="1000" b="0">
                <a:solidFill>
                  <a:srgbClr val="F59E0B"/>
                </a:solidFill>
                <a:latin typeface="맑은 고딕"/>
              </a:defRPr>
            </a:pPr>
            <a:r>
              <a:t>▸ bus_interval (노선별 평균 배차간격)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Dacon 제주도 퇴근시간 버스 승차인원 예측 | Team E1i4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47091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19/33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4-2. 팀원 고유 피처 (55 → 59개)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713232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64008" cy="7132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  <a:latin typeface="Consolas"/>
              </a:defRPr>
            </a:pPr>
            <a:r>
              <a:t>usertype_tourist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0700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BTS 관광객 비율 (평균 76.7%)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9903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9E0B"/>
                </a:solidFill>
                <a:latin typeface="맑은 고딕"/>
              </a:defRPr>
            </a:pPr>
            <a:r>
              <a:t>→ 관광 노선 = 저녁 수요 패턴이 다름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8229600" cy="713232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64008" cy="7132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830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  <a:latin typeface="Consolas"/>
              </a:defRPr>
            </a:pPr>
            <a:r>
              <a:t>usertype_local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29967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BTS 현지인 비율 (평균 13.4%)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21991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9E0B"/>
                </a:solidFill>
                <a:latin typeface="맑은 고딕"/>
              </a:defRPr>
            </a:pPr>
            <a:r>
              <a:t>→ 현지인 비율 높은 곳 = 퇴근 수요↑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60320"/>
            <a:ext cx="8229600" cy="713232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560320"/>
            <a:ext cx="64008" cy="7132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606039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  <a:latin typeface="Consolas"/>
              </a:defRPr>
            </a:pPr>
            <a:r>
              <a:t>dist_to_dong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852927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동(洞) 중심까지 거리 (평균 15.2km)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044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9E0B"/>
                </a:solidFill>
                <a:latin typeface="맑은 고딕"/>
              </a:defRPr>
            </a:pPr>
            <a:r>
              <a:t>→ 시내 중심부 접근성 = 수요와 상관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83280"/>
            <a:ext cx="8229600" cy="713232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383280"/>
            <a:ext cx="64008" cy="71323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4290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  <a:latin typeface="Consolas"/>
              </a:defRPr>
            </a:pPr>
            <a:r>
              <a:t>passed_days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67588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경과일수 (train: 0~29, test: 30~45)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86791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9E0B"/>
                </a:solidFill>
                <a:latin typeface="맑은 고딕"/>
              </a:defRPr>
            </a:pPr>
            <a:r>
              <a:t>→ 시간 흐름에 따른 트렌드 포착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Dacon 제주도 퇴근시간 버스 승차인원 예측 | Team E1i4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47091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20/33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5. 모델링 — 발전 과정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566928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64008" cy="56692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맑은 고딕"/>
              </a:defRPr>
            </a:pPr>
            <a:r>
              <a:t>plan9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9601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55개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9601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LGB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9601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4D399"/>
                </a:solidFill>
                <a:latin typeface="맑은 고딕"/>
              </a:defRPr>
            </a:pPr>
            <a:r>
              <a:t>단독 최고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960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55개가 최적 피처 수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72768"/>
            <a:ext cx="8229600" cy="566928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72768"/>
            <a:ext cx="64008" cy="5669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맑은 고딕"/>
              </a:defRPr>
            </a:pPr>
            <a:r>
              <a:t>plan10~16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161848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57~95개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16184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LGB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161848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  <a:latin typeface="맑은 고딕"/>
              </a:defRPr>
            </a:pPr>
            <a:r>
              <a:t>전부 하락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161848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피처 추가 = 과적합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231136"/>
            <a:ext cx="8229600" cy="566928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231136"/>
            <a:ext cx="64008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276856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맑은 고딕"/>
              </a:defRPr>
            </a:pPr>
            <a:r>
              <a:t>plan17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227685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95개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227685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LGB + RF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2276856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맑은 고딕"/>
              </a:defRPr>
            </a:pPr>
            <a:r>
              <a:t>개선!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227685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모델 다양성이 핵심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889504"/>
            <a:ext cx="8229600" cy="566928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2889504"/>
            <a:ext cx="64008" cy="5669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2935224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맑은 고딕"/>
              </a:defRPr>
            </a:pPr>
            <a:r>
              <a:t>plan19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293522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95개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293522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LGB+RF Optuna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2935224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맑은 고딕"/>
              </a:defRPr>
            </a:pPr>
            <a:r>
              <a:t>추가 개선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293522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RF 튜닝 효과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547872"/>
            <a:ext cx="8229600" cy="566928"/>
          </a:xfrm>
          <a:prstGeom prst="rect">
            <a:avLst/>
          </a:prstGeom>
          <a:solidFill>
            <a:srgbClr val="1A2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3547872"/>
            <a:ext cx="64008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3593591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맑은 고딕"/>
              </a:defRPr>
            </a:pPr>
            <a:r>
              <a:t>Team E1i4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593591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55+59개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3593591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LGB+RF+XGB</a:t>
            </a:r>
            <a:br/>
            <a:r>
              <a:t>3-way 블렌딩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3593591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맑은 고딕"/>
              </a:defRPr>
            </a:pPr>
            <a:r>
              <a:t>Private 최고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3593591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다관점 블렌딩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3867911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9E0B"/>
                </a:solidFill>
                <a:latin typeface="맑은 고딕"/>
              </a:defRPr>
            </a:pPr>
            <a:r>
              <a:t>→ 최종 채택: 55개·59개·95개 모델을 각각 학습 후 가중 블렌딩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Dacon 제주도 퇴근시간 버스 승차인원 예측 | Team E1i4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47091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21/33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5-1. Step 1: 55개 피처 모델 (베이스라인)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3931920" cy="201168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34D399"/>
                </a:solidFill>
                <a:latin typeface="맑은 고딕"/>
              </a:defRPr>
            </a:pPr>
            <a:r>
              <a:t>LightGBM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Optuna 15 trials 자동 튜닝</a:t>
            </a:r>
          </a:p>
          <a:p>
            <a:pPr>
              <a:spcAft>
                <a:spcPts val="200"/>
              </a:spcAft>
              <a:defRPr sz="1100" b="1">
                <a:solidFill>
                  <a:srgbClr val="34D399"/>
                </a:solidFill>
                <a:latin typeface="맑은 고딕"/>
              </a:defRPr>
            </a:pPr>
            <a:r>
              <a:t>▸ Best RMSE: 0.7041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3 Seeds × 5-Fold = 15개 모델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914400"/>
            <a:ext cx="3931920" cy="201168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0" y="100584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8B5CF6"/>
                </a:solidFill>
                <a:latin typeface="맑은 고딕"/>
              </a:defRPr>
            </a:pPr>
            <a:r>
              <a:t>RandomForest + XGBoost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RF: 3 Seeds × 5-Fold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XGB: CPU 학습, RMSE ~0.683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3모델 평균 RMSE: 0.6931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3108960"/>
            <a:ext cx="64008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59E0B"/>
                </a:solidFill>
                <a:latin typeface="맑은 고딕"/>
              </a:defRPr>
            </a:pPr>
            <a:r>
              <a:t>55개 모델 = 검증된 안정적 베이스라인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가장 오랫동안 실험한 피처셋 → 과적합 위험 가장 낮음</a:t>
            </a:r>
          </a:p>
          <a:p>
            <a:pPr>
              <a:spcAft>
                <a:spcPts val="200"/>
              </a:spcAft>
              <a:defRPr sz="1000" b="0">
                <a:solidFill>
                  <a:srgbClr val="34D399"/>
                </a:solidFill>
                <a:latin typeface="맑은 고딕"/>
              </a:defRPr>
            </a:pPr>
            <a:r>
              <a:t>▸ 최종 블렌딩에서 가중치 0.5 (가장 높은 비중)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Dacon 제주도 퇴근시간 버스 승차인원 예측 | Team E1i4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7091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22/33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5-2. Step 2: 59개 피처 모델 (팀원 피처 추가)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3931920" cy="182880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34D399"/>
                </a:solidFill>
                <a:latin typeface="맑은 고딕"/>
              </a:defRPr>
            </a:pPr>
            <a:r>
              <a:t>55개 + 팀원 고유 4개 = 59개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Optuna 15 trials (LGB)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LGB Best RMSE: 0.7041</a:t>
            </a:r>
          </a:p>
          <a:p>
            <a:pPr>
              <a:spcAft>
                <a:spcPts val="200"/>
              </a:spcAft>
              <a:defRPr sz="1000" b="1">
                <a:solidFill>
                  <a:srgbClr val="34D399"/>
                </a:solidFill>
                <a:latin typeface="맑은 고딕"/>
              </a:defRPr>
            </a:pPr>
            <a:r>
              <a:t>▸ 3모델 평균 RMSE: 0.6900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914400"/>
            <a:ext cx="3931920" cy="182880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ell66_a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960120"/>
            <a:ext cx="3749039" cy="17373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926080"/>
            <a:ext cx="64008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7772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0B981"/>
                </a:solidFill>
                <a:latin typeface="맑은 고딕"/>
              </a:defRPr>
            </a:pPr>
            <a:r>
              <a:t>59개 → 55개 대비 RMSE 0.003 개선!</a:t>
            </a:r>
          </a:p>
          <a:p>
            <a:pPr>
              <a:spcAft>
                <a:spcPts val="200"/>
              </a:spcAft>
              <a:defRPr sz="400" b="0">
                <a:solidFill>
                  <a:srgbClr val="CBD5E1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팀원 고유 피처 4개가 실제로 예측력 향상에 기여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55 vs 59 예측 상관: 0.9992 (매우 높음)</a:t>
            </a:r>
          </a:p>
          <a:p>
            <a:pPr>
              <a:spcAft>
                <a:spcPts val="200"/>
              </a:spcAft>
              <a:defRPr sz="1000" b="0">
                <a:solidFill>
                  <a:srgbClr val="F59E0B"/>
                </a:solidFill>
                <a:latin typeface="맑은 고딕"/>
              </a:defRPr>
            </a:pPr>
            <a:r>
              <a:t>▸ 상관이 높아 블렌딩 효과는 제한적이지만, 단독 성능은 더 우수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최종 블렌딩에서 가중치 0.2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Dacon 제주도 퇴근시간 버스 승차인원 예측 | Team E1i4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7091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23/33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5-3. 적대적 검증 (Adversarial Validation)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182880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772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34D399"/>
                </a:solidFill>
                <a:latin typeface="맑은 고딕"/>
              </a:defRPr>
            </a:pPr>
            <a:r>
              <a:t>목적: Train과 Test의 분포 차이 확인 → CV 점수 신뢰도 검증</a:t>
            </a:r>
          </a:p>
          <a:p>
            <a:pPr>
              <a:spcAft>
                <a:spcPts val="200"/>
              </a:spcAft>
              <a:defRPr sz="600" b="0">
                <a:solidFill>
                  <a:srgbClr val="CBD5E1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방법: Train(label=0) + Test(label=1) → LGBMClassifier 분류 → AUC 측정</a:t>
            </a:r>
          </a:p>
          <a:p>
            <a:pPr>
              <a:spcAft>
                <a:spcPts val="200"/>
              </a:spcAft>
              <a:defRPr sz="400" b="0">
                <a:solidFill>
                  <a:srgbClr val="CBD5E1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1200" b="1">
                <a:solidFill>
                  <a:srgbClr val="F59E0B"/>
                </a:solidFill>
                <a:latin typeface="맑은 고딕"/>
              </a:defRPr>
            </a:pPr>
            <a:r>
              <a:t>결과: 55개 AUC = 1.0000 / 59개 AUC = 1.0000</a:t>
            </a:r>
          </a:p>
          <a:p>
            <a:pPr>
              <a:spcAft>
                <a:spcPts val="200"/>
              </a:spcAft>
              <a:defRPr sz="400" b="0">
                <a:solidFill>
                  <a:srgbClr val="CBD5E1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AUC = 1.0은 Train/Test가 완전히 구분 가능하다는 의미</a:t>
            </a:r>
          </a:p>
          <a:p>
            <a:pPr>
              <a:spcAft>
                <a:spcPts val="200"/>
              </a:spcAft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→ 이는 Train(9월)과 Test(10월)의 날짜 자체가 다르기 때문 (자연스러운 현상)</a:t>
            </a:r>
          </a:p>
          <a:p>
            <a:pPr>
              <a:spcAft>
                <a:spcPts val="200"/>
              </a:spcAft>
              <a:defRPr sz="1000" b="0">
                <a:solidFill>
                  <a:srgbClr val="34D399"/>
                </a:solidFill>
                <a:latin typeface="맑은 고딕"/>
              </a:defRPr>
            </a:pPr>
            <a:r>
              <a:t>→ CV 점수를 과신하지 않고, 다양한 모델 블렌딩으로 일반화 확보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Dacon 제주도 퇴근시간 버스 승차인원 예측 | Team E1i4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47091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24/33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5-4. Step 3: 블렌딩 전략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164592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772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34D399"/>
                </a:solidFill>
                <a:latin typeface="맑은 고딕"/>
              </a:defRPr>
            </a:pPr>
            <a:r>
              <a:t>OOF(Out-of-Fold) 블렌딩 비교</a:t>
            </a:r>
          </a:p>
          <a:p>
            <a:pPr>
              <a:spcAft>
                <a:spcPts val="200"/>
              </a:spcAft>
              <a:defRPr sz="400" b="0">
                <a:solidFill>
                  <a:srgbClr val="CBD5E1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  55개 단독:         RMSE = 0.6931</a:t>
            </a:r>
          </a:p>
          <a:p>
            <a:pPr>
              <a:spcAft>
                <a:spcPts val="200"/>
              </a:spcAft>
              <a:defRPr sz="1100" b="1">
                <a:solidFill>
                  <a:srgbClr val="10B981"/>
                </a:solidFill>
                <a:latin typeface="맑은 고딕"/>
              </a:defRPr>
            </a:pPr>
            <a:r>
              <a:t>  59개 단독:         RMSE = 0.6900  ← 단독 최고</a:t>
            </a:r>
          </a:p>
          <a:p>
            <a:pPr>
              <a:spcAft>
                <a:spcPts val="200"/>
              </a:spcAft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  55:0.5 + 59:0.5:  RMSE = 0.6913</a:t>
            </a:r>
          </a:p>
          <a:p>
            <a:pPr>
              <a:spcAft>
                <a:spcPts val="200"/>
              </a:spcAft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  55:0.6 + 59:0.4:  RMSE = 0.6916</a:t>
            </a:r>
          </a:p>
          <a:p>
            <a:pPr>
              <a:spcAft>
                <a:spcPts val="200"/>
              </a:spcAft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  55:0.7 + 59:0.3:  RMSE = 0.6920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743200"/>
            <a:ext cx="8229600" cy="164592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743200"/>
            <a:ext cx="64008" cy="1645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7772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F59E0B"/>
                </a:solidFill>
                <a:latin typeface="맑은 고딕"/>
              </a:defRPr>
            </a:pPr>
            <a:r>
              <a:t>최종 제출 전략: 3-Way 블렌딩</a:t>
            </a:r>
          </a:p>
          <a:p>
            <a:pPr>
              <a:spcAft>
                <a:spcPts val="200"/>
              </a:spcAft>
              <a:defRPr sz="400" b="0">
                <a:solidFill>
                  <a:srgbClr val="CBD5E1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submission_team1_3way.csv = </a:t>
            </a:r>
          </a:p>
          <a:p>
            <a:pPr>
              <a:spcAft>
                <a:spcPts val="200"/>
              </a:spcAft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  55개 모델 × 0.5  (검증된 베이스라인, 안정성 확보)</a:t>
            </a:r>
          </a:p>
          <a:p>
            <a:pPr>
              <a:spcAft>
                <a:spcPts val="200"/>
              </a:spcAft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  59개 모델 × 0.2  (팀원 피처 추가, 미세 개선)</a:t>
            </a:r>
          </a:p>
          <a:p>
            <a:pPr>
              <a:spcAft>
                <a:spcPts val="200"/>
              </a:spcAft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  95개 모델 × 0.3  (대량 피처 + LGB+RF, 다양성 확보)</a:t>
            </a:r>
          </a:p>
          <a:p>
            <a:pPr>
              <a:spcAft>
                <a:spcPts val="200"/>
              </a:spcAft>
              <a:defRPr sz="400" b="0">
                <a:solidFill>
                  <a:srgbClr val="CBD5E1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1200" b="1">
                <a:solidFill>
                  <a:srgbClr val="10B981"/>
                </a:solidFill>
                <a:latin typeface="맑은 고딕"/>
              </a:defRPr>
            </a:pPr>
            <a:r>
              <a:t>→ Private 리더보드에서 가장 높은 점수 달성!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Dacon 제주도 퇴근시간 버스 승차인원 예측 | Team E1i4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7091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25/33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왜 3-Way 블렌딩이 최고 점수인가?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96012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64008" cy="9601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맑은 고딕"/>
              </a:defRPr>
            </a:pPr>
            <a:r>
              <a:t>55개 모델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9601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핵심 예측력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검증된 최적 피처셋</a:t>
            </a:r>
            <a:br/>
            <a:r>
              <a:t>오랜 실험으로 안정성 확보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051560"/>
            <a:ext cx="1645920" cy="6400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10515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가중치</a:t>
            </a:r>
            <a:br/>
            <a:r>
              <a:t>0.5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11680"/>
            <a:ext cx="8229600" cy="96012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011680"/>
            <a:ext cx="64008" cy="960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574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맑은 고딕"/>
              </a:defRPr>
            </a:pPr>
            <a:r>
              <a:t>59개 모델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0574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미세한 차이 포착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3317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팀원 고유 피처가 포착한</a:t>
            </a:r>
            <a:br/>
            <a:r>
              <a:t>관광객/현지인 패턴 반영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2148840"/>
            <a:ext cx="1645920" cy="640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1488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가중치</a:t>
            </a:r>
            <a:br/>
            <a:r>
              <a:t>0.2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08960"/>
            <a:ext cx="8229600" cy="96012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108960"/>
            <a:ext cx="64008" cy="9601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154679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  <a:latin typeface="맑은 고딕"/>
              </a:defRPr>
            </a:pPr>
            <a:r>
              <a:t>95개 모델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154679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다른 관점의 예측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4290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LGB+RF 앙상블</a:t>
            </a:r>
            <a:br/>
            <a:r>
              <a:t>대량 피처로 다양성 확보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3246120"/>
            <a:ext cx="1645920" cy="6400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2461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가중치</a:t>
            </a:r>
            <a:br/>
            <a:r>
              <a:t>0.3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solidFill>
            <a:srgbClr val="0F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31596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맑은 고딕"/>
              </a:defRPr>
            </a:pPr>
            <a:r>
              <a:t>→ 세 모델이 각각 다른 관점으로 예측 → 서로의 약점을 보완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Dacon 제주도 퇴근시간 버스 승차인원 예측 | Team E1i4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47091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26/33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6. 최종 결과 &amp; 제출</a:t>
            </a:r>
          </a:p>
        </p:txBody>
      </p:sp>
      <p:pic>
        <p:nvPicPr>
          <p:cNvPr id="3" name="Picture 2" descr="result_3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4114800" cy="1005840"/>
          </a:xfrm>
          <a:prstGeom prst="rect">
            <a:avLst/>
          </a:prstGeom>
        </p:spPr>
      </p:pic>
      <p:pic>
        <p:nvPicPr>
          <p:cNvPr id="4" name="Picture 3" descr="result_sco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0"/>
            <a:ext cx="2286000" cy="7315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303520" y="914400"/>
            <a:ext cx="3383280" cy="228600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0" y="1005840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34D399"/>
                </a:solidFill>
                <a:latin typeface="맑은 고딕"/>
              </a:defRPr>
            </a:pPr>
            <a:r>
              <a:t>제출 파일 목록</a:t>
            </a:r>
          </a:p>
          <a:p>
            <a:pPr>
              <a:spcAft>
                <a:spcPts val="200"/>
              </a:spcAft>
              <a:defRPr sz="400" b="0">
                <a:solidFill>
                  <a:srgbClr val="CBD5E1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team1_55.csv (55개 단독)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team1_59.csv (59개 단독)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team1_blend_5_5.csv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team1_blend_6_4.csv</a:t>
            </a:r>
          </a:p>
          <a:p>
            <a:pPr>
              <a:spcAft>
                <a:spcPts val="200"/>
              </a:spcAft>
              <a:defRPr sz="400" b="0">
                <a:solidFill>
                  <a:srgbClr val="CBD5E1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1200" b="1">
                <a:solidFill>
                  <a:srgbClr val="F59E0B"/>
                </a:solidFill>
                <a:latin typeface="맑은 고딕"/>
              </a:defRPr>
            </a:pPr>
            <a:r>
              <a:t>★ team1_3way.csv</a:t>
            </a:r>
          </a:p>
          <a:p>
            <a:pPr>
              <a:spcAft>
                <a:spcPts val="200"/>
              </a:spcAft>
              <a:defRPr sz="1100" b="1">
                <a:solidFill>
                  <a:srgbClr val="10B981"/>
                </a:solidFill>
                <a:latin typeface="맑은 고딕"/>
              </a:defRPr>
            </a:pPr>
            <a:r>
              <a:t>  → Private 13위!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383280"/>
            <a:ext cx="8229600" cy="109728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3383280"/>
            <a:ext cx="64008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F59E0B"/>
                </a:solidFill>
                <a:latin typeface="맑은 고딕"/>
              </a:defRPr>
            </a:pPr>
            <a:r>
              <a:t>핵심 교훈</a:t>
            </a:r>
          </a:p>
          <a:p>
            <a:pPr>
              <a:spcAft>
                <a:spcPts val="200"/>
              </a:spcAft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1. 피처 수 ≠ 성능 (55개가 95개보다 단독 성능 우수)</a:t>
            </a:r>
          </a:p>
          <a:p>
            <a:pPr>
              <a:spcAft>
                <a:spcPts val="200"/>
              </a:spcAft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2. 모델 다양성이 블렌딩의 핵심 (LGB+RF+XGB의 서로 다른 결정 경계)</a:t>
            </a:r>
          </a:p>
          <a:p>
            <a:pPr>
              <a:spcAft>
                <a:spcPts val="200"/>
              </a:spcAft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3. 팀원 고유 피처가 미세하지만 실질적 개선 기여 (0.003 RMSE 향상)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Dacon 제주도 퇴근시간 버스 승차인원 예측 | Team E1i4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7091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27/33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핵심 인사이트 &amp; 교훈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59436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64008" cy="5943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7589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  <a:latin typeface="맑은 고딕"/>
              </a:defRPr>
            </a:pPr>
            <a:r>
              <a:t>EDA → 피처 엔지니어링의 직접적 근거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07008"/>
            <a:ext cx="7589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모든 피처는 EDA 발견에서 출발 — 근거 없는 피처는 노이즈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27632"/>
            <a:ext cx="8229600" cy="59436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27632"/>
            <a:ext cx="64008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73352"/>
            <a:ext cx="7589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맑은 고딕"/>
              </a:defRPr>
            </a:pPr>
            <a:r>
              <a:t>피처 수보다 피처 품질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7589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55개 &gt; 95개: 더 많은 피처가 항상 좋은 것은 아님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40864"/>
            <a:ext cx="8229600" cy="59436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340864"/>
            <a:ext cx="64008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386584"/>
            <a:ext cx="7589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맑은 고딕"/>
              </a:defRPr>
            </a:pPr>
            <a:r>
              <a:t>팀원 80% 아이디어 겹침 = 올바른 방향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33472"/>
            <a:ext cx="7589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독립적으로 같은 결론 → 강력한 검증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54096"/>
            <a:ext cx="8229600" cy="59436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054096"/>
            <a:ext cx="64008" cy="5943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099815"/>
            <a:ext cx="7589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맑은 고딕"/>
              </a:defRPr>
            </a:pPr>
            <a:r>
              <a:t>모델 다양성이 블렌딩의 핵심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346703"/>
            <a:ext cx="7589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같은 LGB끼리보다 LGB+RF+XGB 조합이 효과적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767328"/>
            <a:ext cx="8229600" cy="59436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767328"/>
            <a:ext cx="64008" cy="5943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813048"/>
            <a:ext cx="7589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97316"/>
                </a:solidFill>
                <a:latin typeface="맑은 고딕"/>
              </a:defRPr>
            </a:pPr>
            <a:r>
              <a:t>3-Way 블렌딩의 위력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059936"/>
            <a:ext cx="7589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각각 다른 관점의 예측을 결합하면 단독보다 강력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Dacon 제주도 퇴근시간 버스 승차인원 예측 | Team E1i4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47091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28/33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EDA Ch.4 보충 — 이용객 유형 시각화</a:t>
            </a:r>
          </a:p>
        </p:txBody>
      </p:sp>
      <p:pic>
        <p:nvPicPr>
          <p:cNvPr id="3" name="Picture 2" descr="cell35_a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77240"/>
            <a:ext cx="4297680" cy="2194560"/>
          </a:xfrm>
          <a:prstGeom prst="rect">
            <a:avLst/>
          </a:prstGeom>
        </p:spPr>
      </p:pic>
      <p:pic>
        <p:nvPicPr>
          <p:cNvPr id="4" name="Picture 3" descr="cell36_at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777240"/>
            <a:ext cx="4114800" cy="21945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74320" y="3108960"/>
            <a:ext cx="8412480" cy="137160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8046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34D399"/>
                </a:solidFill>
                <a:latin typeface="맑은 고딕"/>
              </a:defRPr>
            </a:pPr>
            <a:r>
              <a:t>이용객 유형별 시간대 &amp; 노선 선호도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각 유형(관광객/직장인/현지인/대학생)이 이용하는 노선과 시간대가 뚜렷하게 다름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직장인: 아침 피크 → 저녁 피크 / 관광객: 시간대 분산</a:t>
            </a:r>
          </a:p>
          <a:p>
            <a:pPr>
              <a:spcAft>
                <a:spcPts val="200"/>
              </a:spcAft>
              <a:defRPr sz="1000" b="0">
                <a:solidFill>
                  <a:srgbClr val="F59E0B"/>
                </a:solidFill>
                <a:latin typeface="맑은 고딕"/>
              </a:defRPr>
            </a:pPr>
            <a:r>
              <a:t>▸ 이 패턴이 BTS 기반 피처(commuter_ratio, usertype_tourist 등)의 근거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Dacon 제주도 퇴근시간 버스 승차인원 예측 | Team E1i4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47091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29/33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5-5. CV 프레임워크 &amp; Optuna 튜닝 상세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3931920" cy="228600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34D399"/>
                </a:solidFill>
                <a:latin typeface="맑은 고딕"/>
              </a:defRPr>
            </a:pPr>
            <a:r>
              <a:t>교차검증 설정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5-Fold KFold (shuffle=True)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log1p(y) 학습 → expm1() 복원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OOF 예측으로 RMSE 평가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3 Seeds (42, 123, 456) 평균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clip(0) 음수 방지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914400"/>
            <a:ext cx="3931920" cy="228600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0" y="1005840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F59E0B"/>
                </a:solidFill>
                <a:latin typeface="맑은 고딕"/>
              </a:defRPr>
            </a:pPr>
            <a:r>
              <a:t>Optuna 하이퍼파라미터 튜닝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15 trials / TPE sampler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learning_rate: 0.01~0.1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num_leaves: 15~100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max_depth: 4~12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subsample / colsample: 0.5~0.95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reg_alpha / reg_lambda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4290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8B5CF6"/>
                </a:solidFill>
                <a:latin typeface="맑은 고딕"/>
              </a:defRPr>
            </a:pPr>
            <a:r>
              <a:t>사용 모델 3종</a:t>
            </a:r>
          </a:p>
          <a:p>
            <a:pPr>
              <a:spcAft>
                <a:spcPts val="200"/>
              </a:spcAft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LightGBM (Gradient Boosting)  |  RandomForest (Bagging)  |  XGBoost (Gradient Boosting)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Dacon 제주도 퇴근시간 버스 승차인원 예측 | Team E1i4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47091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30/33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팀 피처 통합 검증 결과 상세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320040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772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34D399"/>
                </a:solidFill>
                <a:latin typeface="맑은 고딕"/>
              </a:defRPr>
            </a:pPr>
            <a:r>
              <a:t>추가된 팀원 고유 피처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  usertype_tourist: 관광객 비율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  usertype_local: 현지인 비율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  dist_to_dong: 동 중심 거리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  passed_days: 경과일수</a:t>
            </a:r>
          </a:p>
          <a:p>
            <a:pPr>
              <a:spcAft>
                <a:spcPts val="200"/>
              </a:spcAft>
              <a:defRPr sz="600" b="0">
                <a:solidFill>
                  <a:srgbClr val="CBD5E1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1400" b="1">
                <a:solidFill>
                  <a:srgbClr val="F59E0B"/>
                </a:solidFill>
                <a:latin typeface="맑은 고딕"/>
              </a:defRPr>
            </a:pPr>
            <a:r>
              <a:t>CV RMSE 비교</a:t>
            </a:r>
          </a:p>
          <a:p>
            <a:pPr>
              <a:spcAft>
                <a:spcPts val="200"/>
              </a:spcAft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  55개 (기존):     0.6931</a:t>
            </a:r>
          </a:p>
          <a:p>
            <a:pPr>
              <a:spcAft>
                <a:spcPts val="200"/>
              </a:spcAft>
              <a:defRPr sz="1100" b="1">
                <a:solidFill>
                  <a:srgbClr val="10B981"/>
                </a:solidFill>
                <a:latin typeface="맑은 고딕"/>
              </a:defRPr>
            </a:pPr>
            <a:r>
              <a:t>  59개 (55+팀원):  0.6900  → 0.0031 개선!</a:t>
            </a:r>
          </a:p>
          <a:p>
            <a:pPr>
              <a:spcAft>
                <a:spcPts val="200"/>
              </a:spcAft>
              <a:defRPr sz="600" b="0">
                <a:solidFill>
                  <a:srgbClr val="CBD5E1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1200" b="1">
                <a:solidFill>
                  <a:srgbClr val="8B5CF6"/>
                </a:solidFill>
                <a:latin typeface="맑은 고딕"/>
              </a:defRPr>
            </a:pPr>
            <a:r>
              <a:t>55 vs 59 예측 상관: 0.9992</a:t>
            </a:r>
          </a:p>
          <a:p>
            <a:pPr>
              <a:spcAft>
                <a:spcPts val="200"/>
              </a:spcAft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  상관이 높아서 블렌딩 효과는 제한적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  하지만 단독 성능은 59개가 우수 → 3-way 블렌딩의 일부로 기여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Dacon 제주도 퇴근시간 버스 승차인원 예측 | Team E1i4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47091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31/33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전체 흐름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1005840"/>
            <a:ext cx="1325880" cy="164592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1005840"/>
            <a:ext cx="1325880" cy="45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14300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59669"/>
                </a:solidFill>
                <a:latin typeface="맑은 고딕"/>
              </a:defRPr>
            </a:pPr>
            <a:r>
              <a:t>데이터 4종 로드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00200"/>
            <a:ext cx="1234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BD5E1"/>
                </a:solidFill>
                <a:latin typeface="맑은 고딕"/>
              </a:defRPr>
            </a:pPr>
            <a:r>
              <a:t>train/test</a:t>
            </a:r>
            <a:br/>
            <a:r>
              <a:t>bus_bts/기상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554480"/>
            <a:ext cx="13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0" y="1005840"/>
            <a:ext cx="1325880" cy="164592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45920" y="1005840"/>
            <a:ext cx="1325880" cy="457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91640" y="114300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891B2"/>
                </a:solidFill>
                <a:latin typeface="맑은 고딕"/>
              </a:defRPr>
            </a:pPr>
            <a:r>
              <a:t>EDA 5개 Chapter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600200"/>
            <a:ext cx="1234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BD5E1"/>
                </a:solidFill>
                <a:latin typeface="맑은 고딕"/>
              </a:defRPr>
            </a:pPr>
            <a:r>
              <a:t>팀원 5명</a:t>
            </a:r>
            <a:br/>
            <a:r>
              <a:t>각자 분석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1554480"/>
            <a:ext cx="13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1005840"/>
            <a:ext cx="1325880" cy="164592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08960" y="1005840"/>
            <a:ext cx="13258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54680" y="114300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B82F6"/>
                </a:solidFill>
                <a:latin typeface="맑은 고딕"/>
              </a:defRPr>
            </a:pPr>
            <a:r>
              <a:t>전처리 6단계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1600200"/>
            <a:ext cx="1234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BD5E1"/>
                </a:solidFill>
                <a:latin typeface="맑은 고딕"/>
              </a:defRPr>
            </a:pPr>
            <a:r>
              <a:t>기상·날짜·BTS</a:t>
            </a:r>
            <a:br/>
            <a:r>
              <a:t>log1p 변환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1554480"/>
            <a:ext cx="13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1005840"/>
            <a:ext cx="1325880" cy="164592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0" y="1005840"/>
            <a:ext cx="132588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114300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B5CF6"/>
                </a:solidFill>
                <a:latin typeface="맑은 고딕"/>
              </a:defRPr>
            </a:pPr>
            <a:r>
              <a:t>피처 엔지니어링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1600200"/>
            <a:ext cx="1234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BD5E1"/>
                </a:solidFill>
                <a:latin typeface="맑은 고딕"/>
              </a:defRPr>
            </a:pPr>
            <a:r>
              <a:t>공통 55개</a:t>
            </a:r>
            <a:br/>
            <a:r>
              <a:t>+팀원 4개=59개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1554480"/>
            <a:ext cx="13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1005840"/>
            <a:ext cx="1325880" cy="164592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35040" y="1005840"/>
            <a:ext cx="1325880" cy="4572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80760" y="114300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333EA"/>
                </a:solidFill>
                <a:latin typeface="맑은 고딕"/>
              </a:defRPr>
            </a:pPr>
            <a:r>
              <a:t>모델링 3모델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1600200"/>
            <a:ext cx="1234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BD5E1"/>
                </a:solidFill>
                <a:latin typeface="맑은 고딕"/>
              </a:defRPr>
            </a:pPr>
            <a:r>
              <a:t>LGB+RF+XGB</a:t>
            </a:r>
            <a:br/>
            <a:r>
              <a:t>Optuna 튜닝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20" y="1554480"/>
            <a:ext cx="13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79" y="1005840"/>
            <a:ext cx="1325880" cy="164592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98079" y="1005840"/>
            <a:ext cx="132588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43800" y="114300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  <a:latin typeface="맑은 고딕"/>
              </a:defRPr>
            </a:pPr>
            <a:r>
              <a:t>3-Way 블렌딩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800" y="1600200"/>
            <a:ext cx="1234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BD5E1"/>
                </a:solidFill>
                <a:latin typeface="맑은 고딕"/>
              </a:defRPr>
            </a:pPr>
            <a:r>
              <a:t>55×0.5+59×0.2</a:t>
            </a:r>
            <a:br/>
            <a:r>
              <a:t>+95×0.3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017520"/>
            <a:ext cx="8229600" cy="137160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3017520"/>
            <a:ext cx="82296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320040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10B981"/>
                </a:solidFill>
                <a:latin typeface="맑은 고딕"/>
              </a:defRPr>
            </a:pPr>
            <a:r>
              <a:t>핵심 메시지</a:t>
            </a:r>
          </a:p>
          <a:p>
            <a:pPr>
              <a:spcAft>
                <a:spcPts val="200"/>
              </a:spcAft>
              <a:defRPr sz="400" b="0">
                <a:solidFill>
                  <a:srgbClr val="CBD5E1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1. EDA에서 발견한 인사이트 → 피처 엔지니어링의 직접적 근거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2. 팀원 80% 아이디어 겹침 = 올바른 방향의 강력한 검증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3. 피처 품질 &gt; 피처 수 (55개 &gt; 95개)</a:t>
            </a:r>
          </a:p>
          <a:p>
            <a:pPr>
              <a:spcAft>
                <a:spcPts val="200"/>
              </a:spcAft>
              <a:defRPr sz="1200" b="1">
                <a:solidFill>
                  <a:srgbClr val="F59E0B"/>
                </a:solidFill>
                <a:latin typeface="맑은 고딕"/>
              </a:defRPr>
            </a:pPr>
            <a:r>
              <a:t>4. 3-Way 블렌딩으로 다양한 관점 결합 → Private 13위 달성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Dacon 제주도 퇴근시간 버스 승차인원 예측 | Team E1i4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47091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32/33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맑은 고딕"/>
              </a:defRPr>
            </a:pPr>
            <a: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4D399"/>
                </a:solidFill>
                <a:latin typeface="맑은 고딕"/>
              </a:defRPr>
            </a:pPr>
            <a:r>
              <a:t>제주도 퇴근시간 버스 승차인원 예측 — Team E1i4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맑은 고딕"/>
              </a:defRPr>
            </a:pPr>
            <a:r>
              <a:t>Dacon AI 경진대회 | 5인 팀 | Private 13위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47091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33/33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